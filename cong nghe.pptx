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Krub Bold" charset="-34"/>
      <p:regular r:id="rId11"/>
    </p:embeddedFon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Agbalumo" charset="0"/>
      <p:regular r:id="rId16"/>
    </p:embeddedFont>
    <p:embeddedFont>
      <p:font typeface="Sigmar One" charset="0"/>
      <p:regular r:id="rId17"/>
    </p:embeddedFont>
    <p:embeddedFont>
      <p:font typeface="Ballet" charset="0"/>
      <p:regular r:id="rId18"/>
    </p:embeddedFont>
    <p:embeddedFont>
      <p:font typeface="Bungee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4" d="100"/>
          <a:sy n="34" d="100"/>
        </p:scale>
        <p:origin x="-92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1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3.svg"/><Relationship Id="rId12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11.sv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svg"/><Relationship Id="rId7" Type="http://schemas.openxmlformats.org/officeDocument/2006/relationships/image" Target="../media/image1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8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8.svg"/><Relationship Id="rId3" Type="http://schemas.openxmlformats.org/officeDocument/2006/relationships/image" Target="../media/image11.svg"/><Relationship Id="rId7" Type="http://schemas.openxmlformats.org/officeDocument/2006/relationships/image" Target="../media/image6.png"/><Relationship Id="rId12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svg"/><Relationship Id="rId5" Type="http://schemas.openxmlformats.org/officeDocument/2006/relationships/image" Target="../media/image13.svg"/><Relationship Id="rId10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1.svg"/><Relationship Id="rId7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4.jpeg"/><Relationship Id="rId5" Type="http://schemas.openxmlformats.org/officeDocument/2006/relationships/image" Target="../media/image13.svg"/><Relationship Id="rId10" Type="http://schemas.openxmlformats.org/officeDocument/2006/relationships/image" Target="../media/image23.jpeg"/><Relationship Id="rId4" Type="http://schemas.openxmlformats.org/officeDocument/2006/relationships/image" Target="../media/image8.png"/><Relationship Id="rId9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11.svg"/><Relationship Id="rId7" Type="http://schemas.openxmlformats.org/officeDocument/2006/relationships/image" Target="../media/image25.png"/><Relationship Id="rId12" Type="http://schemas.openxmlformats.org/officeDocument/2006/relationships/image" Target="../media/image37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6.png"/><Relationship Id="rId5" Type="http://schemas.openxmlformats.org/officeDocument/2006/relationships/image" Target="../media/image13.svg"/><Relationship Id="rId10" Type="http://schemas.openxmlformats.org/officeDocument/2006/relationships/image" Target="../media/image18.sv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87720" y="2300080"/>
            <a:ext cx="10974383" cy="455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79"/>
              </a:lnSpc>
            </a:pPr>
            <a:r>
              <a:rPr lang="en-US" sz="12143">
                <a:solidFill>
                  <a:srgbClr val="090147"/>
                </a:solidFill>
                <a:latin typeface="Sigmar One"/>
                <a:ea typeface="Sigmar One"/>
                <a:cs typeface="Sigmar One"/>
                <a:sym typeface="Sigmar One"/>
              </a:rPr>
              <a:t>biện pháp an toàn điện </a:t>
            </a:r>
          </a:p>
        </p:txBody>
      </p:sp>
      <p:sp>
        <p:nvSpPr>
          <p:cNvPr id="3" name="Freeform 3"/>
          <p:cNvSpPr/>
          <p:nvPr/>
        </p:nvSpPr>
        <p:spPr>
          <a:xfrm>
            <a:off x="-652637" y="-72189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82600" y="-1557683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5823951" y="7041092"/>
            <a:ext cx="6179312" cy="900756"/>
            <a:chOff x="0" y="0"/>
            <a:chExt cx="1627473" cy="2372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7473" cy="237236"/>
            </a:xfrm>
            <a:custGeom>
              <a:avLst/>
              <a:gdLst/>
              <a:ahLst/>
              <a:cxnLst/>
              <a:rect l="l" t="t" r="r" b="b"/>
              <a:pathLst>
                <a:path w="1627473" h="237236">
                  <a:moveTo>
                    <a:pt x="63427" y="0"/>
                  </a:moveTo>
                  <a:lnTo>
                    <a:pt x="1564046" y="0"/>
                  </a:lnTo>
                  <a:cubicBezTo>
                    <a:pt x="1580868" y="0"/>
                    <a:pt x="1597001" y="6682"/>
                    <a:pt x="1608896" y="18577"/>
                  </a:cubicBezTo>
                  <a:cubicBezTo>
                    <a:pt x="1620791" y="30472"/>
                    <a:pt x="1627473" y="46605"/>
                    <a:pt x="1627473" y="63427"/>
                  </a:cubicBezTo>
                  <a:lnTo>
                    <a:pt x="1627473" y="173809"/>
                  </a:lnTo>
                  <a:cubicBezTo>
                    <a:pt x="1627473" y="190631"/>
                    <a:pt x="1620791" y="206764"/>
                    <a:pt x="1608896" y="218659"/>
                  </a:cubicBezTo>
                  <a:cubicBezTo>
                    <a:pt x="1597001" y="230554"/>
                    <a:pt x="1580868" y="237236"/>
                    <a:pt x="1564046" y="237236"/>
                  </a:cubicBezTo>
                  <a:lnTo>
                    <a:pt x="63427" y="237236"/>
                  </a:lnTo>
                  <a:cubicBezTo>
                    <a:pt x="46605" y="237236"/>
                    <a:pt x="30472" y="230554"/>
                    <a:pt x="18577" y="218659"/>
                  </a:cubicBezTo>
                  <a:cubicBezTo>
                    <a:pt x="6682" y="206764"/>
                    <a:pt x="0" y="190631"/>
                    <a:pt x="0" y="173809"/>
                  </a:cubicBezTo>
                  <a:lnTo>
                    <a:pt x="0" y="63427"/>
                  </a:lnTo>
                  <a:cubicBezTo>
                    <a:pt x="0" y="46605"/>
                    <a:pt x="6682" y="30472"/>
                    <a:pt x="18577" y="18577"/>
                  </a:cubicBezTo>
                  <a:cubicBezTo>
                    <a:pt x="30472" y="6682"/>
                    <a:pt x="46605" y="0"/>
                    <a:pt x="634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27473" cy="275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474476" y="7063452"/>
            <a:ext cx="6528787" cy="77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6"/>
              </a:lnSpc>
            </a:pPr>
            <a:r>
              <a:rPr lang="en-US" sz="4547" b="1" spc="5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Công nghệ 8</a:t>
            </a:r>
          </a:p>
        </p:txBody>
      </p:sp>
      <p:sp>
        <p:nvSpPr>
          <p:cNvPr id="12" name="Freeform 12"/>
          <p:cNvSpPr/>
          <p:nvPr/>
        </p:nvSpPr>
        <p:spPr>
          <a:xfrm rot="-10321493">
            <a:off x="6300712" y="8352127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98447" y="7890711"/>
            <a:ext cx="2940195" cy="5419715"/>
          </a:xfrm>
          <a:custGeom>
            <a:avLst/>
            <a:gdLst/>
            <a:ahLst/>
            <a:cxnLst/>
            <a:rect l="l" t="t" r="r" b="b"/>
            <a:pathLst>
              <a:path w="2940195" h="5419715">
                <a:moveTo>
                  <a:pt x="0" y="0"/>
                </a:moveTo>
                <a:lnTo>
                  <a:pt x="2940196" y="0"/>
                </a:lnTo>
                <a:lnTo>
                  <a:pt x="2940196" y="5419714"/>
                </a:lnTo>
                <a:lnTo>
                  <a:pt x="0" y="54197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576126">
            <a:off x="5056542" y="-3154373"/>
            <a:ext cx="2232279" cy="4114800"/>
          </a:xfrm>
          <a:custGeom>
            <a:avLst/>
            <a:gdLst/>
            <a:ahLst/>
            <a:cxnLst/>
            <a:rect l="l" t="t" r="r" b="b"/>
            <a:pathLst>
              <a:path w="2232279" h="4114800">
                <a:moveTo>
                  <a:pt x="0" y="0"/>
                </a:moveTo>
                <a:lnTo>
                  <a:pt x="2232279" y="0"/>
                </a:lnTo>
                <a:lnTo>
                  <a:pt x="223227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52545" y="651746"/>
            <a:ext cx="10134005" cy="1409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534"/>
              </a:lnSpc>
              <a:spcBef>
                <a:spcPct val="0"/>
              </a:spcBef>
            </a:pPr>
            <a:r>
              <a:rPr lang="en-US" sz="8238">
                <a:gradFill>
                  <a:gsLst>
                    <a:gs pos="0">
                      <a:srgbClr val="192385">
                        <a:alpha val="100000"/>
                      </a:srgbClr>
                    </a:gs>
                    <a:gs pos="100000">
                      <a:srgbClr val="2D8BBA">
                        <a:alpha val="100000"/>
                      </a:srgbClr>
                    </a:gs>
                  </a:gsLst>
                  <a:lin ang="5400000"/>
                </a:gradFill>
                <a:latin typeface="Arturo"/>
                <a:ea typeface="Arturo"/>
                <a:cs typeface="Arturo"/>
                <a:sym typeface="Arturo"/>
              </a:rPr>
              <a:t>Thành viên nhóm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7079" y="2373630"/>
            <a:ext cx="2535882" cy="72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endParaRPr lang="en-US" sz="4200" dirty="0">
              <a:solidFill>
                <a:srgbClr val="214184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20500" y="3511093"/>
            <a:ext cx="3374827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 smtClean="0">
                <a:solidFill>
                  <a:srgbClr val="214184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00" dirty="0">
              <a:solidFill>
                <a:srgbClr val="214184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025628" y="7201413"/>
            <a:ext cx="4130129" cy="72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 smtClean="0">
                <a:solidFill>
                  <a:srgbClr val="214184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00" dirty="0">
              <a:solidFill>
                <a:srgbClr val="214184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537786" y="7201413"/>
            <a:ext cx="4181082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 smtClean="0">
                <a:solidFill>
                  <a:srgbClr val="214184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00" dirty="0">
              <a:solidFill>
                <a:srgbClr val="214184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752545" y="6060318"/>
            <a:ext cx="1951286" cy="72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 smtClean="0">
                <a:solidFill>
                  <a:srgbClr val="214184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00" dirty="0">
              <a:solidFill>
                <a:srgbClr val="214184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761043" y="4785873"/>
            <a:ext cx="4659300" cy="72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 smtClean="0">
                <a:solidFill>
                  <a:srgbClr val="214184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00" dirty="0">
              <a:solidFill>
                <a:srgbClr val="214184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20500" y="2738153"/>
            <a:ext cx="39352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 smtClean="0"/>
              <a:t>Đức</a:t>
            </a:r>
            <a:r>
              <a:rPr lang="en-US" sz="5400" dirty="0" smtClean="0"/>
              <a:t> </a:t>
            </a:r>
            <a:r>
              <a:rPr lang="en-US" sz="5400" dirty="0" err="1" smtClean="0"/>
              <a:t>Tâm</a:t>
            </a:r>
            <a:r>
              <a:rPr lang="en-US" sz="5400" dirty="0" smtClean="0"/>
              <a:t> </a:t>
            </a:r>
          </a:p>
          <a:p>
            <a:r>
              <a:rPr lang="en-US" sz="5400" dirty="0" err="1" smtClean="0"/>
              <a:t>Khánh</a:t>
            </a:r>
            <a:r>
              <a:rPr lang="en-US" sz="5400" dirty="0" smtClean="0"/>
              <a:t> Chi</a:t>
            </a:r>
          </a:p>
          <a:p>
            <a:r>
              <a:rPr lang="en-US" sz="5400" dirty="0" smtClean="0"/>
              <a:t>Minh </a:t>
            </a:r>
            <a:r>
              <a:rPr lang="en-US" sz="5400" dirty="0" err="1" smtClean="0"/>
              <a:t>Hằng</a:t>
            </a:r>
            <a:endParaRPr lang="en-US" sz="5400" dirty="0" smtClean="0"/>
          </a:p>
          <a:p>
            <a:r>
              <a:rPr lang="en-US" sz="5400" dirty="0" err="1" smtClean="0"/>
              <a:t>Hà</a:t>
            </a:r>
            <a:r>
              <a:rPr lang="en-US" sz="5400" dirty="0" smtClean="0"/>
              <a:t> </a:t>
            </a:r>
            <a:r>
              <a:rPr lang="en-US" sz="5400" dirty="0" err="1" smtClean="0"/>
              <a:t>Vy</a:t>
            </a:r>
            <a:endParaRPr lang="en-US" sz="5400" dirty="0" smtClean="0"/>
          </a:p>
          <a:p>
            <a:r>
              <a:rPr lang="en-US" sz="5400" dirty="0" err="1" smtClean="0"/>
              <a:t>Nguyên</a:t>
            </a:r>
            <a:r>
              <a:rPr lang="en-US" sz="5400" dirty="0" smtClean="0"/>
              <a:t> Long</a:t>
            </a:r>
            <a:endParaRPr lang="en-US" sz="5400" dirty="0"/>
          </a:p>
        </p:txBody>
      </p:sp>
      <p:sp>
        <p:nvSpPr>
          <p:cNvPr id="23" name="TextBox 22"/>
          <p:cNvSpPr txBox="1"/>
          <p:nvPr/>
        </p:nvSpPr>
        <p:spPr>
          <a:xfrm>
            <a:off x="9795651" y="2921686"/>
            <a:ext cx="35092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 smtClean="0"/>
              <a:t>Mạnh</a:t>
            </a:r>
            <a:r>
              <a:rPr lang="en-US" sz="5400" dirty="0" smtClean="0"/>
              <a:t> </a:t>
            </a:r>
            <a:r>
              <a:rPr lang="en-US" sz="5400" dirty="0" err="1" smtClean="0"/>
              <a:t>Dũng</a:t>
            </a:r>
            <a:r>
              <a:rPr lang="en-US" sz="5400" dirty="0" smtClean="0"/>
              <a:t> </a:t>
            </a:r>
          </a:p>
          <a:p>
            <a:r>
              <a:rPr lang="en-US" sz="5400" dirty="0" err="1" smtClean="0"/>
              <a:t>Đức</a:t>
            </a:r>
            <a:r>
              <a:rPr lang="en-US" sz="5400" dirty="0" smtClean="0"/>
              <a:t> </a:t>
            </a:r>
            <a:r>
              <a:rPr lang="en-US" sz="5400" dirty="0" err="1" smtClean="0"/>
              <a:t>Cường</a:t>
            </a:r>
            <a:endParaRPr lang="en-US" sz="5400" dirty="0" smtClean="0"/>
          </a:p>
          <a:p>
            <a:r>
              <a:rPr lang="en-US" sz="5400" dirty="0" err="1" smtClean="0"/>
              <a:t>Hữu</a:t>
            </a:r>
            <a:r>
              <a:rPr lang="en-US" sz="5400" dirty="0" smtClean="0"/>
              <a:t> </a:t>
            </a:r>
            <a:r>
              <a:rPr lang="en-US" sz="5400" dirty="0" err="1" smtClean="0"/>
              <a:t>Thịnh</a:t>
            </a:r>
            <a:endParaRPr lang="en-US" sz="5400" dirty="0" smtClean="0"/>
          </a:p>
          <a:p>
            <a:r>
              <a:rPr lang="en-US" sz="5400" dirty="0" err="1" smtClean="0"/>
              <a:t>Ngọc</a:t>
            </a:r>
            <a:r>
              <a:rPr lang="en-US" sz="5400" dirty="0" smtClean="0"/>
              <a:t> </a:t>
            </a:r>
            <a:r>
              <a:rPr lang="en-US" sz="5400" dirty="0" err="1" smtClean="0"/>
              <a:t>Diệp</a:t>
            </a:r>
            <a:endParaRPr lang="en-US" sz="5400" dirty="0" smtClean="0"/>
          </a:p>
          <a:p>
            <a:r>
              <a:rPr lang="en-US" sz="5400" dirty="0" err="1" smtClean="0"/>
              <a:t>Sỹ</a:t>
            </a:r>
            <a:r>
              <a:rPr lang="en-US" sz="5400" dirty="0" smtClean="0"/>
              <a:t> </a:t>
            </a:r>
            <a:r>
              <a:rPr lang="en-US" sz="5400" dirty="0" err="1" smtClean="0"/>
              <a:t>Hoàng</a:t>
            </a:r>
            <a:endParaRPr 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6700" y="754279"/>
            <a:ext cx="10171643" cy="1334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7"/>
              </a:lnSpc>
            </a:pPr>
            <a:r>
              <a:rPr lang="en-US" sz="10131" dirty="0" err="1">
                <a:solidFill>
                  <a:srgbClr val="090147"/>
                </a:solidFill>
                <a:latin typeface="Arturo"/>
                <a:ea typeface="Arturo"/>
                <a:cs typeface="Arturo"/>
                <a:sym typeface="Arturo"/>
              </a:rPr>
              <a:t>Lời</a:t>
            </a:r>
            <a:r>
              <a:rPr lang="en-US" sz="10131" dirty="0">
                <a:solidFill>
                  <a:srgbClr val="090147"/>
                </a:solidFill>
                <a:latin typeface="Arturo"/>
                <a:ea typeface="Arturo"/>
                <a:cs typeface="Arturo"/>
                <a:sym typeface="Arturo"/>
              </a:rPr>
              <a:t> </a:t>
            </a:r>
            <a:r>
              <a:rPr lang="en-US" sz="10131" dirty="0" err="1">
                <a:solidFill>
                  <a:srgbClr val="090147"/>
                </a:solidFill>
                <a:latin typeface="Arturo"/>
                <a:ea typeface="Arturo"/>
                <a:cs typeface="Arturo"/>
                <a:sym typeface="Arturo"/>
              </a:rPr>
              <a:t>nói</a:t>
            </a:r>
            <a:r>
              <a:rPr lang="en-US" sz="10131" dirty="0">
                <a:solidFill>
                  <a:srgbClr val="090147"/>
                </a:solidFill>
                <a:latin typeface="Arturo"/>
                <a:ea typeface="Arturo"/>
                <a:cs typeface="Arturo"/>
                <a:sym typeface="Arturo"/>
              </a:rPr>
              <a:t> </a:t>
            </a:r>
            <a:r>
              <a:rPr lang="en-US" sz="10131" dirty="0" err="1">
                <a:solidFill>
                  <a:srgbClr val="090147"/>
                </a:solidFill>
                <a:latin typeface="Arturo"/>
                <a:ea typeface="Arturo"/>
                <a:cs typeface="Arturo"/>
                <a:sym typeface="Arturo"/>
              </a:rPr>
              <a:t>đầu</a:t>
            </a:r>
            <a:r>
              <a:rPr lang="en-US" sz="10131" dirty="0">
                <a:solidFill>
                  <a:srgbClr val="090147"/>
                </a:solidFill>
                <a:latin typeface="Arturo"/>
                <a:ea typeface="Arturo"/>
                <a:cs typeface="Arturo"/>
                <a:sym typeface="Arturo"/>
              </a:rPr>
              <a:t> </a:t>
            </a:r>
          </a:p>
        </p:txBody>
      </p:sp>
      <p:sp>
        <p:nvSpPr>
          <p:cNvPr id="3" name="Freeform 3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172156">
            <a:off x="8353597" y="8526955"/>
            <a:ext cx="2533276" cy="4669634"/>
          </a:xfrm>
          <a:custGeom>
            <a:avLst/>
            <a:gdLst/>
            <a:ahLst/>
            <a:cxnLst/>
            <a:rect l="l" t="t" r="r" b="b"/>
            <a:pathLst>
              <a:path w="2533276" h="4669634">
                <a:moveTo>
                  <a:pt x="0" y="0"/>
                </a:moveTo>
                <a:lnTo>
                  <a:pt x="2533277" y="0"/>
                </a:lnTo>
                <a:lnTo>
                  <a:pt x="2533277" y="4669634"/>
                </a:lnTo>
                <a:lnTo>
                  <a:pt x="0" y="46696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159019"/>
            <a:ext cx="14743204" cy="6364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15788" lvl="1" indent="-557894" algn="ctr">
              <a:lnSpc>
                <a:spcPts val="7235"/>
              </a:lnSpc>
              <a:buFont typeface="Arial"/>
              <a:buChar char="•"/>
            </a:pP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năng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một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phần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thiếu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cuộc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sống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hằng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ngày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giúp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vận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hành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mang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lại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sự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tiện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nghi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cho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sinh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hoạt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Tuy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nhiên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nếu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dụng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đúng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cách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tiềm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ẩn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nhiều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nguy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hiểm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Vì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vậy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chúng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ta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cần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học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cách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dụng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5168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thông</a:t>
            </a:r>
            <a:r>
              <a:rPr lang="en-US" sz="5168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minh.</a:t>
            </a:r>
          </a:p>
        </p:txBody>
      </p:sp>
      <p:sp>
        <p:nvSpPr>
          <p:cNvPr id="9" name="Freeform 9"/>
          <p:cNvSpPr/>
          <p:nvPr/>
        </p:nvSpPr>
        <p:spPr>
          <a:xfrm>
            <a:off x="12667435" y="-467981"/>
            <a:ext cx="6086755" cy="5112874"/>
          </a:xfrm>
          <a:custGeom>
            <a:avLst/>
            <a:gdLst/>
            <a:ahLst/>
            <a:cxnLst/>
            <a:rect l="l" t="t" r="r" b="b"/>
            <a:pathLst>
              <a:path w="6086755" h="5112874">
                <a:moveTo>
                  <a:pt x="0" y="0"/>
                </a:moveTo>
                <a:lnTo>
                  <a:pt x="6086755" y="0"/>
                </a:lnTo>
                <a:lnTo>
                  <a:pt x="6086755" y="5112875"/>
                </a:lnTo>
                <a:lnTo>
                  <a:pt x="0" y="51128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8000"/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688918">
            <a:off x="2086440" y="-469114"/>
            <a:ext cx="2633734" cy="2581059"/>
          </a:xfrm>
          <a:custGeom>
            <a:avLst/>
            <a:gdLst/>
            <a:ahLst/>
            <a:cxnLst/>
            <a:rect l="l" t="t" r="r" b="b"/>
            <a:pathLst>
              <a:path w="2633734" h="2581059">
                <a:moveTo>
                  <a:pt x="0" y="0"/>
                </a:moveTo>
                <a:lnTo>
                  <a:pt x="2633733" y="0"/>
                </a:lnTo>
                <a:lnTo>
                  <a:pt x="2633733" y="2581059"/>
                </a:lnTo>
                <a:lnTo>
                  <a:pt x="0" y="258105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0553" y="2120609"/>
            <a:ext cx="11112439" cy="6203029"/>
            <a:chOff x="0" y="0"/>
            <a:chExt cx="2663320" cy="14866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3320" cy="1486681"/>
            </a:xfrm>
            <a:custGeom>
              <a:avLst/>
              <a:gdLst/>
              <a:ahLst/>
              <a:cxnLst/>
              <a:rect l="l" t="t" r="r" b="b"/>
              <a:pathLst>
                <a:path w="2663320" h="1486681">
                  <a:moveTo>
                    <a:pt x="35270" y="0"/>
                  </a:moveTo>
                  <a:lnTo>
                    <a:pt x="2628050" y="0"/>
                  </a:lnTo>
                  <a:cubicBezTo>
                    <a:pt x="2637404" y="0"/>
                    <a:pt x="2646375" y="3716"/>
                    <a:pt x="2652990" y="10330"/>
                  </a:cubicBezTo>
                  <a:cubicBezTo>
                    <a:pt x="2659604" y="16945"/>
                    <a:pt x="2663320" y="25916"/>
                    <a:pt x="2663320" y="35270"/>
                  </a:cubicBezTo>
                  <a:lnTo>
                    <a:pt x="2663320" y="1451411"/>
                  </a:lnTo>
                  <a:cubicBezTo>
                    <a:pt x="2663320" y="1470890"/>
                    <a:pt x="2647529" y="1486681"/>
                    <a:pt x="2628050" y="1486681"/>
                  </a:cubicBezTo>
                  <a:lnTo>
                    <a:pt x="35270" y="1486681"/>
                  </a:lnTo>
                  <a:cubicBezTo>
                    <a:pt x="15791" y="1486681"/>
                    <a:pt x="0" y="1470890"/>
                    <a:pt x="0" y="1451411"/>
                  </a:cubicBezTo>
                  <a:lnTo>
                    <a:pt x="0" y="35270"/>
                  </a:lnTo>
                  <a:cubicBezTo>
                    <a:pt x="0" y="15791"/>
                    <a:pt x="15791" y="0"/>
                    <a:pt x="35270" y="0"/>
                  </a:cubicBezTo>
                  <a:close/>
                </a:path>
              </a:pathLst>
            </a:custGeom>
            <a:solidFill>
              <a:srgbClr val="CBDC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63320" cy="152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031215" y="-1382319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439346" y="321462"/>
            <a:ext cx="8641686" cy="70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3284" lvl="1" indent="-501642" algn="ctr">
              <a:lnSpc>
                <a:spcPts val="4507"/>
              </a:lnSpc>
              <a:buAutoNum type="arabicPeriod"/>
            </a:pPr>
            <a:r>
              <a:rPr lang="en-US" sz="4646" dirty="0" err="1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nguyên</a:t>
            </a:r>
            <a:r>
              <a:rPr lang="en-US" sz="4646" dirty="0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r>
              <a:rPr lang="en-US" sz="4646" dirty="0" err="1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nhân</a:t>
            </a:r>
            <a:r>
              <a:rPr lang="en-US" sz="4646" dirty="0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 :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72992" y="784209"/>
            <a:ext cx="4551452" cy="4557148"/>
          </a:xfrm>
          <a:custGeom>
            <a:avLst/>
            <a:gdLst/>
            <a:ahLst/>
            <a:cxnLst/>
            <a:rect l="l" t="t" r="r" b="b"/>
            <a:pathLst>
              <a:path w="4551452" h="4557148">
                <a:moveTo>
                  <a:pt x="0" y="0"/>
                </a:moveTo>
                <a:lnTo>
                  <a:pt x="4551451" y="0"/>
                </a:lnTo>
                <a:lnTo>
                  <a:pt x="4551451" y="4557148"/>
                </a:lnTo>
                <a:lnTo>
                  <a:pt x="0" y="4557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225903" y="5214089"/>
            <a:ext cx="4612339" cy="4612339"/>
          </a:xfrm>
          <a:custGeom>
            <a:avLst/>
            <a:gdLst/>
            <a:ahLst/>
            <a:cxnLst/>
            <a:rect l="l" t="t" r="r" b="b"/>
            <a:pathLst>
              <a:path w="4612339" h="4612339">
                <a:moveTo>
                  <a:pt x="0" y="0"/>
                </a:moveTo>
                <a:lnTo>
                  <a:pt x="4612339" y="0"/>
                </a:lnTo>
                <a:lnTo>
                  <a:pt x="4612339" y="4612339"/>
                </a:lnTo>
                <a:lnTo>
                  <a:pt x="0" y="46123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102437">
            <a:off x="4477109" y="9192250"/>
            <a:ext cx="6341136" cy="1117625"/>
          </a:xfrm>
          <a:custGeom>
            <a:avLst/>
            <a:gdLst/>
            <a:ahLst/>
            <a:cxnLst/>
            <a:rect l="l" t="t" r="r" b="b"/>
            <a:pathLst>
              <a:path w="6341136" h="1117625">
                <a:moveTo>
                  <a:pt x="0" y="0"/>
                </a:moveTo>
                <a:lnTo>
                  <a:pt x="6341136" y="0"/>
                </a:lnTo>
                <a:lnTo>
                  <a:pt x="6341136" y="1117625"/>
                </a:lnTo>
                <a:lnTo>
                  <a:pt x="0" y="1117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0000"/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60553" y="2298501"/>
            <a:ext cx="10780281" cy="578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Tai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gia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đình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những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sự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cố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xảy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con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dụng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tiếp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xúc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với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sinh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hoạt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nguy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hiểm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như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bỏng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cháy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nổ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ảnh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hưởng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tính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mạng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sức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khỏe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tài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sản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-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Dây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hở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hư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hỏng</a:t>
            </a: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-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dụng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tay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ướt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nơi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ẩm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ướt</a:t>
            </a: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-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Quá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tải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ổ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cắm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chập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879"/>
              </a:lnSpc>
              <a:spcBef>
                <a:spcPct val="0"/>
              </a:spcBef>
            </a:pP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-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Trẻ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em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nghịch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ổ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cắm</a:t>
            </a:r>
            <a:r>
              <a:rPr lang="en-US" sz="2770" u="none" strike="noStrike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70" u="none" strike="noStrike" dirty="0" err="1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endParaRPr lang="en-US" sz="2770" u="none" strike="noStrike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7862" y="1568282"/>
            <a:ext cx="6381909" cy="7150435"/>
            <a:chOff x="0" y="0"/>
            <a:chExt cx="1680832" cy="18832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0832" cy="1883242"/>
            </a:xfrm>
            <a:custGeom>
              <a:avLst/>
              <a:gdLst/>
              <a:ahLst/>
              <a:cxnLst/>
              <a:rect l="l" t="t" r="r" b="b"/>
              <a:pathLst>
                <a:path w="1680832" h="1883242">
                  <a:moveTo>
                    <a:pt x="61413" y="0"/>
                  </a:moveTo>
                  <a:lnTo>
                    <a:pt x="1619418" y="0"/>
                  </a:lnTo>
                  <a:cubicBezTo>
                    <a:pt x="1635706" y="0"/>
                    <a:pt x="1651327" y="6470"/>
                    <a:pt x="1662844" y="17988"/>
                  </a:cubicBezTo>
                  <a:cubicBezTo>
                    <a:pt x="1674362" y="29505"/>
                    <a:pt x="1680832" y="45126"/>
                    <a:pt x="1680832" y="61413"/>
                  </a:cubicBezTo>
                  <a:lnTo>
                    <a:pt x="1680832" y="1821829"/>
                  </a:lnTo>
                  <a:cubicBezTo>
                    <a:pt x="1680832" y="1855747"/>
                    <a:pt x="1653336" y="1883242"/>
                    <a:pt x="1619418" y="1883242"/>
                  </a:cubicBezTo>
                  <a:lnTo>
                    <a:pt x="61413" y="1883242"/>
                  </a:lnTo>
                  <a:cubicBezTo>
                    <a:pt x="45126" y="1883242"/>
                    <a:pt x="29505" y="1876772"/>
                    <a:pt x="17988" y="1865255"/>
                  </a:cubicBezTo>
                  <a:cubicBezTo>
                    <a:pt x="6470" y="1853737"/>
                    <a:pt x="0" y="1838117"/>
                    <a:pt x="0" y="1821829"/>
                  </a:cubicBezTo>
                  <a:lnTo>
                    <a:pt x="0" y="61413"/>
                  </a:lnTo>
                  <a:cubicBezTo>
                    <a:pt x="0" y="45126"/>
                    <a:pt x="6470" y="29505"/>
                    <a:pt x="17988" y="17988"/>
                  </a:cubicBezTo>
                  <a:cubicBezTo>
                    <a:pt x="29505" y="6470"/>
                    <a:pt x="45126" y="0"/>
                    <a:pt x="61413" y="0"/>
                  </a:cubicBezTo>
                  <a:close/>
                </a:path>
              </a:pathLst>
            </a:custGeom>
            <a:solidFill>
              <a:srgbClr val="CBDCE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0832" cy="1921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34024" y="1568282"/>
            <a:ext cx="5883896" cy="7150435"/>
            <a:chOff x="0" y="0"/>
            <a:chExt cx="1549668" cy="18832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9668" cy="1883242"/>
            </a:xfrm>
            <a:custGeom>
              <a:avLst/>
              <a:gdLst/>
              <a:ahLst/>
              <a:cxnLst/>
              <a:rect l="l" t="t" r="r" b="b"/>
              <a:pathLst>
                <a:path w="1549668" h="1883242">
                  <a:moveTo>
                    <a:pt x="66611" y="0"/>
                  </a:moveTo>
                  <a:lnTo>
                    <a:pt x="1483057" y="0"/>
                  </a:lnTo>
                  <a:cubicBezTo>
                    <a:pt x="1500723" y="0"/>
                    <a:pt x="1517666" y="7018"/>
                    <a:pt x="1530158" y="19510"/>
                  </a:cubicBezTo>
                  <a:cubicBezTo>
                    <a:pt x="1542650" y="32002"/>
                    <a:pt x="1549668" y="48945"/>
                    <a:pt x="1549668" y="66611"/>
                  </a:cubicBezTo>
                  <a:lnTo>
                    <a:pt x="1549668" y="1816631"/>
                  </a:lnTo>
                  <a:cubicBezTo>
                    <a:pt x="1549668" y="1834297"/>
                    <a:pt x="1542650" y="1851240"/>
                    <a:pt x="1530158" y="1863732"/>
                  </a:cubicBezTo>
                  <a:cubicBezTo>
                    <a:pt x="1517666" y="1876224"/>
                    <a:pt x="1500723" y="1883242"/>
                    <a:pt x="1483057" y="1883242"/>
                  </a:cubicBezTo>
                  <a:lnTo>
                    <a:pt x="66611" y="1883242"/>
                  </a:lnTo>
                  <a:cubicBezTo>
                    <a:pt x="48945" y="1883242"/>
                    <a:pt x="32002" y="1876224"/>
                    <a:pt x="19510" y="1863732"/>
                  </a:cubicBezTo>
                  <a:cubicBezTo>
                    <a:pt x="7018" y="1851240"/>
                    <a:pt x="0" y="1834297"/>
                    <a:pt x="0" y="1816631"/>
                  </a:cubicBezTo>
                  <a:lnTo>
                    <a:pt x="0" y="66611"/>
                  </a:lnTo>
                  <a:cubicBezTo>
                    <a:pt x="0" y="48945"/>
                    <a:pt x="7018" y="32002"/>
                    <a:pt x="19510" y="19510"/>
                  </a:cubicBezTo>
                  <a:cubicBezTo>
                    <a:pt x="32002" y="7018"/>
                    <a:pt x="48945" y="0"/>
                    <a:pt x="666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192385">
                      <a:alpha val="100000"/>
                    </a:srgbClr>
                  </a:gs>
                  <a:gs pos="100000">
                    <a:srgbClr val="2D8BBA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49668" cy="1921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1347681" y="-2761302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12599" y="8401496"/>
            <a:ext cx="5070197" cy="4553959"/>
          </a:xfrm>
          <a:custGeom>
            <a:avLst/>
            <a:gdLst/>
            <a:ahLst/>
            <a:cxnLst/>
            <a:rect l="l" t="t" r="r" b="b"/>
            <a:pathLst>
              <a:path w="5070197" h="4553959">
                <a:moveTo>
                  <a:pt x="0" y="0"/>
                </a:moveTo>
                <a:lnTo>
                  <a:pt x="5070197" y="0"/>
                </a:lnTo>
                <a:lnTo>
                  <a:pt x="5070197" y="4553959"/>
                </a:lnTo>
                <a:lnTo>
                  <a:pt x="0" y="4553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19425" y="4265697"/>
            <a:ext cx="5217123" cy="6062809"/>
          </a:xfrm>
          <a:custGeom>
            <a:avLst/>
            <a:gdLst/>
            <a:ahLst/>
            <a:cxnLst/>
            <a:rect l="l" t="t" r="r" b="b"/>
            <a:pathLst>
              <a:path w="5217123" h="6062809">
                <a:moveTo>
                  <a:pt x="0" y="0"/>
                </a:moveTo>
                <a:lnTo>
                  <a:pt x="5217123" y="0"/>
                </a:lnTo>
                <a:lnTo>
                  <a:pt x="5217123" y="6062809"/>
                </a:lnTo>
                <a:lnTo>
                  <a:pt x="0" y="60628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20" r="-482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02173" y="0"/>
            <a:ext cx="5234375" cy="4265697"/>
          </a:xfrm>
          <a:custGeom>
            <a:avLst/>
            <a:gdLst/>
            <a:ahLst/>
            <a:cxnLst/>
            <a:rect l="l" t="t" r="r" b="b"/>
            <a:pathLst>
              <a:path w="5234375" h="4265697">
                <a:moveTo>
                  <a:pt x="0" y="0"/>
                </a:moveTo>
                <a:lnTo>
                  <a:pt x="5234375" y="0"/>
                </a:lnTo>
                <a:lnTo>
                  <a:pt x="5234375" y="4265697"/>
                </a:lnTo>
                <a:lnTo>
                  <a:pt x="0" y="42656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678" r="-6741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090454" y="1028700"/>
            <a:ext cx="10539262" cy="9445813"/>
          </a:xfrm>
          <a:custGeom>
            <a:avLst/>
            <a:gdLst/>
            <a:ahLst/>
            <a:cxnLst/>
            <a:rect l="l" t="t" r="r" b="b"/>
            <a:pathLst>
              <a:path w="10539262" h="9445813">
                <a:moveTo>
                  <a:pt x="0" y="0"/>
                </a:moveTo>
                <a:lnTo>
                  <a:pt x="10539262" y="0"/>
                </a:lnTo>
                <a:lnTo>
                  <a:pt x="10539262" y="9445813"/>
                </a:lnTo>
                <a:lnTo>
                  <a:pt x="0" y="94458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4000"/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34024" y="1600280"/>
            <a:ext cx="5335849" cy="7019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205" lvl="1" indent="-332602" algn="ctr">
              <a:lnSpc>
                <a:spcPts val="4313"/>
              </a:lnSpc>
              <a:buFont typeface="Arial"/>
              <a:buChar char="•"/>
            </a:pP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cần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được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dùng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đúng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công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suất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tránh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cắm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quá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nhiều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vào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một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ổ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cắm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quá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tải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Đối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với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gia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đình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trẻ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nhỏ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cần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che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chắn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ổ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cắm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sắp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xếp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dây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gọn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gàng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giáo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dục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trẻ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ý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thức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Thực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hiện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tốt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biện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pháp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trên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sẽ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giúp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giảm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thiểu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tai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đảm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bảo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cho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gia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đình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xã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81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hội</a:t>
            </a:r>
            <a:r>
              <a:rPr lang="en-US" sz="3081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74125" y="323824"/>
            <a:ext cx="8397745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566" lvl="1" algn="ctr">
              <a:lnSpc>
                <a:spcPts val="5856"/>
              </a:lnSpc>
              <a:spcBef>
                <a:spcPct val="0"/>
              </a:spcBef>
            </a:pPr>
            <a:r>
              <a:rPr lang="en-US" sz="4183" dirty="0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2. </a:t>
            </a:r>
            <a:r>
              <a:rPr lang="en-US" sz="4183" dirty="0" err="1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Nguyên</a:t>
            </a:r>
            <a:r>
              <a:rPr lang="en-US" sz="4183" dirty="0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r>
              <a:rPr lang="en-US" sz="4183" dirty="0" err="1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Nhân</a:t>
            </a:r>
            <a:endParaRPr lang="en-US" sz="4183" dirty="0">
              <a:solidFill>
                <a:srgbClr val="214184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13736" y="1814793"/>
            <a:ext cx="6436034" cy="645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270" lvl="1" indent="-307635" algn="l">
              <a:lnSpc>
                <a:spcPts val="3989"/>
              </a:lnSpc>
              <a:buFont typeface="Arial"/>
              <a:buChar char="•"/>
            </a:pPr>
            <a:r>
              <a:rPr lang="en-US" sz="2849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P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hòng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tránh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tai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gia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đình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việc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làm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cần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nhằm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bảo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vệ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tính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mạng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tài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sản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của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mỗi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dụng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cần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tuân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thủ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nguyên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tắc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như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chạm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vào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tay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ướt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tự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ý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sửa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chữa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chưa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ngắt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nguồn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luôn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tắt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thiết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dụng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Hệ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thống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nhà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phải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được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lắp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đặt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đúng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kỹ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thuật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dây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hở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cầu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dao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aptomat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để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ngắt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kịp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thời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xảy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sự</a:t>
            </a:r>
            <a:r>
              <a:rPr lang="en-US" sz="2849" u="none" strike="noStrike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849" u="none" strike="noStrike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cố</a:t>
            </a:r>
            <a:endParaRPr lang="en-US" sz="2849" u="none" strike="noStrike" dirty="0">
              <a:solidFill>
                <a:srgbClr val="214184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39827" y="390295"/>
            <a:ext cx="8342546" cy="55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64" lvl="1" algn="ctr">
              <a:lnSpc>
                <a:spcPts val="4119"/>
              </a:lnSpc>
            </a:pPr>
            <a:r>
              <a:rPr lang="en-US" sz="4247" dirty="0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3. </a:t>
            </a:r>
            <a:r>
              <a:rPr lang="en-US" sz="4247" dirty="0" err="1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Cách</a:t>
            </a:r>
            <a:r>
              <a:rPr lang="en-US" sz="4247" dirty="0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r>
              <a:rPr lang="en-US" sz="4247" dirty="0" err="1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Xử</a:t>
            </a:r>
            <a:r>
              <a:rPr lang="en-US" sz="4247" dirty="0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  <a:r>
              <a:rPr lang="en-US" sz="4247" dirty="0" err="1" smtClean="0">
                <a:solidFill>
                  <a:srgbClr val="214184"/>
                </a:solidFill>
                <a:latin typeface="Bungee"/>
                <a:ea typeface="Bungee"/>
                <a:cs typeface="Bungee"/>
                <a:sym typeface="Bungee"/>
              </a:rPr>
              <a:t>Lí</a:t>
            </a:r>
            <a:endParaRPr lang="en-US" sz="4247" dirty="0">
              <a:solidFill>
                <a:srgbClr val="214184"/>
              </a:solidFill>
              <a:latin typeface="Bungee"/>
              <a:ea typeface="Bungee"/>
              <a:cs typeface="Bungee"/>
              <a:sym typeface="Bungee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461917" y="1224450"/>
            <a:ext cx="5348820" cy="7311689"/>
            <a:chOff x="0" y="0"/>
            <a:chExt cx="1408743" cy="19257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08743" cy="1925712"/>
            </a:xfrm>
            <a:custGeom>
              <a:avLst/>
              <a:gdLst/>
              <a:ahLst/>
              <a:cxnLst/>
              <a:rect l="l" t="t" r="r" b="b"/>
              <a:pathLst>
                <a:path w="1408743" h="1925712">
                  <a:moveTo>
                    <a:pt x="73275" y="0"/>
                  </a:moveTo>
                  <a:lnTo>
                    <a:pt x="1335468" y="0"/>
                  </a:lnTo>
                  <a:cubicBezTo>
                    <a:pt x="1375936" y="0"/>
                    <a:pt x="1408743" y="32806"/>
                    <a:pt x="1408743" y="73275"/>
                  </a:cubicBezTo>
                  <a:lnTo>
                    <a:pt x="1408743" y="1852437"/>
                  </a:lnTo>
                  <a:cubicBezTo>
                    <a:pt x="1408743" y="1871871"/>
                    <a:pt x="1401023" y="1890509"/>
                    <a:pt x="1387281" y="1904251"/>
                  </a:cubicBezTo>
                  <a:cubicBezTo>
                    <a:pt x="1373539" y="1917992"/>
                    <a:pt x="1354901" y="1925712"/>
                    <a:pt x="1335468" y="1925712"/>
                  </a:cubicBezTo>
                  <a:lnTo>
                    <a:pt x="73275" y="1925712"/>
                  </a:lnTo>
                  <a:cubicBezTo>
                    <a:pt x="53841" y="1925712"/>
                    <a:pt x="35203" y="1917992"/>
                    <a:pt x="21462" y="1904251"/>
                  </a:cubicBezTo>
                  <a:cubicBezTo>
                    <a:pt x="7720" y="1890509"/>
                    <a:pt x="0" y="1871871"/>
                    <a:pt x="0" y="1852437"/>
                  </a:cubicBezTo>
                  <a:lnTo>
                    <a:pt x="0" y="73275"/>
                  </a:lnTo>
                  <a:cubicBezTo>
                    <a:pt x="0" y="53841"/>
                    <a:pt x="7720" y="35203"/>
                    <a:pt x="21462" y="21462"/>
                  </a:cubicBezTo>
                  <a:cubicBezTo>
                    <a:pt x="35203" y="7720"/>
                    <a:pt x="53841" y="0"/>
                    <a:pt x="73275" y="0"/>
                  </a:cubicBezTo>
                  <a:close/>
                </a:path>
              </a:pathLst>
            </a:custGeom>
            <a:solidFill>
              <a:srgbClr val="E3F1F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08743" cy="1963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44900" y="8229600"/>
            <a:ext cx="6535651" cy="4546689"/>
          </a:xfrm>
          <a:custGeom>
            <a:avLst/>
            <a:gdLst/>
            <a:ahLst/>
            <a:cxnLst/>
            <a:rect l="l" t="t" r="r" b="b"/>
            <a:pathLst>
              <a:path w="6535651" h="4546689">
                <a:moveTo>
                  <a:pt x="0" y="0"/>
                </a:moveTo>
                <a:lnTo>
                  <a:pt x="6535651" y="0"/>
                </a:lnTo>
                <a:lnTo>
                  <a:pt x="6535651" y="4546689"/>
                </a:lnTo>
                <a:lnTo>
                  <a:pt x="0" y="4546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162" b="-5162"/>
            </a:stretch>
          </a:blipFill>
        </p:spPr>
      </p:sp>
      <p:sp>
        <p:nvSpPr>
          <p:cNvPr id="9" name="Freeform 9"/>
          <p:cNvSpPr/>
          <p:nvPr/>
        </p:nvSpPr>
        <p:spPr>
          <a:xfrm flipH="1" flipV="1">
            <a:off x="11606912" y="-13435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115537" y="1224450"/>
            <a:ext cx="5366836" cy="7311689"/>
            <a:chOff x="0" y="0"/>
            <a:chExt cx="1413488" cy="19257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13488" cy="1925712"/>
            </a:xfrm>
            <a:custGeom>
              <a:avLst/>
              <a:gdLst/>
              <a:ahLst/>
              <a:cxnLst/>
              <a:rect l="l" t="t" r="r" b="b"/>
              <a:pathLst>
                <a:path w="1413488" h="1925712">
                  <a:moveTo>
                    <a:pt x="73029" y="0"/>
                  </a:moveTo>
                  <a:lnTo>
                    <a:pt x="1340459" y="0"/>
                  </a:lnTo>
                  <a:cubicBezTo>
                    <a:pt x="1359827" y="0"/>
                    <a:pt x="1378402" y="7694"/>
                    <a:pt x="1392098" y="21390"/>
                  </a:cubicBezTo>
                  <a:cubicBezTo>
                    <a:pt x="1405793" y="35085"/>
                    <a:pt x="1413488" y="53661"/>
                    <a:pt x="1413488" y="73029"/>
                  </a:cubicBezTo>
                  <a:lnTo>
                    <a:pt x="1413488" y="1852683"/>
                  </a:lnTo>
                  <a:cubicBezTo>
                    <a:pt x="1413488" y="1872052"/>
                    <a:pt x="1405793" y="1890627"/>
                    <a:pt x="1392098" y="1904323"/>
                  </a:cubicBezTo>
                  <a:cubicBezTo>
                    <a:pt x="1378402" y="1918018"/>
                    <a:pt x="1359827" y="1925712"/>
                    <a:pt x="1340459" y="1925712"/>
                  </a:cubicBezTo>
                  <a:lnTo>
                    <a:pt x="73029" y="1925712"/>
                  </a:lnTo>
                  <a:cubicBezTo>
                    <a:pt x="53661" y="1925712"/>
                    <a:pt x="35085" y="1918018"/>
                    <a:pt x="21390" y="1904323"/>
                  </a:cubicBezTo>
                  <a:cubicBezTo>
                    <a:pt x="7694" y="1890627"/>
                    <a:pt x="0" y="1872052"/>
                    <a:pt x="0" y="1852683"/>
                  </a:cubicBezTo>
                  <a:lnTo>
                    <a:pt x="0" y="73029"/>
                  </a:lnTo>
                  <a:cubicBezTo>
                    <a:pt x="0" y="53661"/>
                    <a:pt x="7694" y="35085"/>
                    <a:pt x="21390" y="21390"/>
                  </a:cubicBezTo>
                  <a:cubicBezTo>
                    <a:pt x="35085" y="7694"/>
                    <a:pt x="53661" y="0"/>
                    <a:pt x="73029" y="0"/>
                  </a:cubicBezTo>
                  <a:close/>
                </a:path>
              </a:pathLst>
            </a:custGeom>
            <a:solidFill>
              <a:srgbClr val="E3F1F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413488" cy="19638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462652" y="4880294"/>
            <a:ext cx="5825348" cy="4196409"/>
          </a:xfrm>
          <a:custGeom>
            <a:avLst/>
            <a:gdLst/>
            <a:ahLst/>
            <a:cxnLst/>
            <a:rect l="l" t="t" r="r" b="b"/>
            <a:pathLst>
              <a:path w="5825348" h="4196409">
                <a:moveTo>
                  <a:pt x="0" y="0"/>
                </a:moveTo>
                <a:lnTo>
                  <a:pt x="5825348" y="0"/>
                </a:lnTo>
                <a:lnTo>
                  <a:pt x="5825348" y="4196409"/>
                </a:lnTo>
                <a:lnTo>
                  <a:pt x="0" y="41964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3419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482373" y="1115901"/>
            <a:ext cx="5825348" cy="3940398"/>
          </a:xfrm>
          <a:custGeom>
            <a:avLst/>
            <a:gdLst/>
            <a:ahLst/>
            <a:cxnLst/>
            <a:rect l="l" t="t" r="r" b="b"/>
            <a:pathLst>
              <a:path w="5825348" h="3940398">
                <a:moveTo>
                  <a:pt x="0" y="0"/>
                </a:moveTo>
                <a:lnTo>
                  <a:pt x="5825347" y="0"/>
                </a:lnTo>
                <a:lnTo>
                  <a:pt x="5825347" y="3940398"/>
                </a:lnTo>
                <a:lnTo>
                  <a:pt x="0" y="39403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143400" y="1342086"/>
            <a:ext cx="4798437" cy="8261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1"/>
              </a:lnSpc>
            </a:pP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Bước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3: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Sơ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cứu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tại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chỗ</a:t>
            </a:r>
            <a:endParaRPr lang="en-US" sz="2979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643238" lvl="1" indent="-321619" algn="ctr">
              <a:lnSpc>
                <a:spcPts val="4171"/>
              </a:lnSpc>
              <a:buFont typeface="Arial"/>
              <a:buChar char="•"/>
            </a:pP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Nếu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ngừng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thở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Thực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hiện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ép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tim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ngoài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lồng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ngực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hà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hơi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thổi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ngạt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Tỉ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lệ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30:2).</a:t>
            </a:r>
          </a:p>
          <a:p>
            <a:pPr marL="643238" lvl="1" indent="-321619" algn="ctr">
              <a:lnSpc>
                <a:spcPts val="4171"/>
              </a:lnSpc>
              <a:buFont typeface="Arial"/>
              <a:buChar char="•"/>
            </a:pP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Thực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hiện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liên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tục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cho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tự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thở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y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tế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hỗ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trợ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171"/>
              </a:lnSpc>
            </a:pP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Bước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4: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Chăm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sóc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y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tế</a:t>
            </a:r>
            <a:endParaRPr lang="en-US" sz="2979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643238" lvl="1" indent="-321619" algn="ctr">
              <a:lnSpc>
                <a:spcPts val="4171"/>
              </a:lnSpc>
              <a:buFont typeface="Arial"/>
              <a:buChar char="•"/>
            </a:pP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Gọi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cấp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cứu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115.</a:t>
            </a:r>
          </a:p>
          <a:p>
            <a:pPr marL="643238" lvl="1" indent="-321619" algn="ctr">
              <a:lnSpc>
                <a:spcPts val="4171"/>
              </a:lnSpc>
              <a:buFont typeface="Arial"/>
              <a:buChar char="•"/>
            </a:pP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Đưa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cơ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sở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y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tế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gần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nhất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để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kiểm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tra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biến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979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chứng</a:t>
            </a:r>
            <a:r>
              <a:rPr lang="en-US" sz="2979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171"/>
              </a:lnSpc>
            </a:pPr>
            <a:endParaRPr lang="en-US" sz="2979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4171"/>
              </a:lnSpc>
            </a:pPr>
            <a:endParaRPr lang="en-US" sz="2979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4171"/>
              </a:lnSpc>
              <a:spcBef>
                <a:spcPct val="0"/>
              </a:spcBef>
            </a:pPr>
            <a:endParaRPr lang="en-US" sz="2979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5212001" y="7660269"/>
            <a:ext cx="3005725" cy="2524809"/>
          </a:xfrm>
          <a:custGeom>
            <a:avLst/>
            <a:gdLst/>
            <a:ahLst/>
            <a:cxnLst/>
            <a:rect l="l" t="t" r="r" b="b"/>
            <a:pathLst>
              <a:path w="3005725" h="2524809">
                <a:moveTo>
                  <a:pt x="0" y="0"/>
                </a:moveTo>
                <a:lnTo>
                  <a:pt x="3005725" y="0"/>
                </a:lnTo>
                <a:lnTo>
                  <a:pt x="3005725" y="2524809"/>
                </a:lnTo>
                <a:lnTo>
                  <a:pt x="0" y="25248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054634" y="153503"/>
            <a:ext cx="2079941" cy="1675298"/>
          </a:xfrm>
          <a:custGeom>
            <a:avLst/>
            <a:gdLst/>
            <a:ahLst/>
            <a:cxnLst/>
            <a:rect l="l" t="t" r="r" b="b"/>
            <a:pathLst>
              <a:path w="2079941" h="1675298">
                <a:moveTo>
                  <a:pt x="0" y="0"/>
                </a:moveTo>
                <a:lnTo>
                  <a:pt x="2079941" y="0"/>
                </a:lnTo>
                <a:lnTo>
                  <a:pt x="2079941" y="1675298"/>
                </a:lnTo>
                <a:lnTo>
                  <a:pt x="0" y="16752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32336" y="1351611"/>
            <a:ext cx="5059255" cy="7448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Bước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1: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Tách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khỏi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nguồn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Quan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trọng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nhất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)</a:t>
            </a:r>
          </a:p>
          <a:p>
            <a:pPr marL="535884" lvl="1" indent="-267942" algn="ctr">
              <a:lnSpc>
                <a:spcPts val="3474"/>
              </a:lnSpc>
              <a:buFont typeface="Arial"/>
              <a:buChar char="•"/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Ngắt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Ngắt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cầu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dao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aptomat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rút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phích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cắm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marL="535884" lvl="1" indent="-267942" algn="ctr">
              <a:lnSpc>
                <a:spcPts val="3474"/>
              </a:lnSpc>
              <a:buFont typeface="Arial"/>
              <a:buChar char="•"/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Cách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ly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Dùng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vật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dẫn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gậy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gỗ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tre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khô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)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gạt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dây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đẩy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ra.</a:t>
            </a:r>
            <a:endParaRPr lang="en-US" sz="2482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535884" lvl="1" indent="-267942" algn="ctr">
              <a:lnSpc>
                <a:spcPts val="3474"/>
              </a:lnSpc>
              <a:buFont typeface="Arial"/>
              <a:buChar char="•"/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Lưu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ý: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Tuyệt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đối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chạm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tay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vào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chưa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ngắt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3474"/>
              </a:lnSpc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Bước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2: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Kiểm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tra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tình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trạng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endParaRPr lang="en-US" sz="2482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535884" lvl="1" indent="-267942" algn="ctr">
              <a:lnSpc>
                <a:spcPts val="3474"/>
              </a:lnSpc>
              <a:buFont typeface="Arial"/>
              <a:buChar char="•"/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Còn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tỉnh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Để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nằm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nghỉ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nơi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thoáng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mát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theo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dõi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nhịp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thở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marL="535884" lvl="1" indent="-267942" algn="ctr">
              <a:lnSpc>
                <a:spcPts val="3474"/>
              </a:lnSpc>
              <a:buFont typeface="Arial"/>
              <a:buChar char="•"/>
            </a:pP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Bất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tỉnh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Kiểm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tra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hơi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thở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mạch</a:t>
            </a:r>
            <a:r>
              <a:rPr lang="en-US" sz="2482" dirty="0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482" dirty="0" err="1">
                <a:solidFill>
                  <a:srgbClr val="143F87"/>
                </a:solidFill>
                <a:latin typeface="Agbalumo"/>
                <a:ea typeface="Agbalumo"/>
                <a:cs typeface="Agbalumo"/>
                <a:sym typeface="Agbalumo"/>
              </a:rPr>
              <a:t>đập</a:t>
            </a:r>
            <a:endParaRPr lang="en-US" sz="2482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3474"/>
              </a:lnSpc>
              <a:spcBef>
                <a:spcPct val="0"/>
              </a:spcBef>
            </a:pPr>
            <a:endParaRPr lang="en-US" sz="2482" dirty="0">
              <a:solidFill>
                <a:srgbClr val="143F87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84008" y="-174952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144436" y="1566057"/>
            <a:ext cx="5993144" cy="7446227"/>
            <a:chOff x="0" y="0"/>
            <a:chExt cx="1578441" cy="19611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441" cy="1961146"/>
            </a:xfrm>
            <a:custGeom>
              <a:avLst/>
              <a:gdLst/>
              <a:ahLst/>
              <a:cxnLst/>
              <a:rect l="l" t="t" r="r" b="b"/>
              <a:pathLst>
                <a:path w="1578441" h="1961146">
                  <a:moveTo>
                    <a:pt x="21961" y="0"/>
                  </a:moveTo>
                  <a:lnTo>
                    <a:pt x="1556481" y="0"/>
                  </a:lnTo>
                  <a:cubicBezTo>
                    <a:pt x="1562305" y="0"/>
                    <a:pt x="1567891" y="2314"/>
                    <a:pt x="1572009" y="6432"/>
                  </a:cubicBezTo>
                  <a:cubicBezTo>
                    <a:pt x="1576127" y="10550"/>
                    <a:pt x="1578441" y="16136"/>
                    <a:pt x="1578441" y="21961"/>
                  </a:cubicBezTo>
                  <a:lnTo>
                    <a:pt x="1578441" y="1939186"/>
                  </a:lnTo>
                  <a:cubicBezTo>
                    <a:pt x="1578441" y="1945010"/>
                    <a:pt x="1576127" y="1950596"/>
                    <a:pt x="1572009" y="1954714"/>
                  </a:cubicBezTo>
                  <a:cubicBezTo>
                    <a:pt x="1567891" y="1958833"/>
                    <a:pt x="1562305" y="1961146"/>
                    <a:pt x="1556481" y="1961146"/>
                  </a:cubicBezTo>
                  <a:lnTo>
                    <a:pt x="21961" y="1961146"/>
                  </a:lnTo>
                  <a:cubicBezTo>
                    <a:pt x="16136" y="1961146"/>
                    <a:pt x="10550" y="1958833"/>
                    <a:pt x="6432" y="1954714"/>
                  </a:cubicBezTo>
                  <a:cubicBezTo>
                    <a:pt x="2314" y="1950596"/>
                    <a:pt x="0" y="1945010"/>
                    <a:pt x="0" y="1939186"/>
                  </a:cubicBezTo>
                  <a:lnTo>
                    <a:pt x="0" y="21961"/>
                  </a:lnTo>
                  <a:cubicBezTo>
                    <a:pt x="0" y="16136"/>
                    <a:pt x="2314" y="10550"/>
                    <a:pt x="6432" y="6432"/>
                  </a:cubicBezTo>
                  <a:cubicBezTo>
                    <a:pt x="10550" y="2314"/>
                    <a:pt x="16136" y="0"/>
                    <a:pt x="21961" y="0"/>
                  </a:cubicBezTo>
                  <a:close/>
                </a:path>
              </a:pathLst>
            </a:custGeom>
            <a:solidFill>
              <a:srgbClr val="E3F1F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78441" cy="1999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575730" y="1028700"/>
            <a:ext cx="6650165" cy="3917784"/>
          </a:xfrm>
          <a:custGeom>
            <a:avLst/>
            <a:gdLst/>
            <a:ahLst/>
            <a:cxnLst/>
            <a:rect l="l" t="t" r="r" b="b"/>
            <a:pathLst>
              <a:path w="6650165" h="3917784">
                <a:moveTo>
                  <a:pt x="0" y="0"/>
                </a:moveTo>
                <a:lnTo>
                  <a:pt x="6650165" y="0"/>
                </a:lnTo>
                <a:lnTo>
                  <a:pt x="6650165" y="3917784"/>
                </a:lnTo>
                <a:lnTo>
                  <a:pt x="0" y="39177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095" r="-5575" b="-1271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750147" y="4829500"/>
            <a:ext cx="6267722" cy="4053226"/>
          </a:xfrm>
          <a:custGeom>
            <a:avLst/>
            <a:gdLst/>
            <a:ahLst/>
            <a:cxnLst/>
            <a:rect l="l" t="t" r="r" b="b"/>
            <a:pathLst>
              <a:path w="6267722" h="4053226">
                <a:moveTo>
                  <a:pt x="0" y="0"/>
                </a:moveTo>
                <a:lnTo>
                  <a:pt x="6267722" y="0"/>
                </a:lnTo>
                <a:lnTo>
                  <a:pt x="6267722" y="4053226"/>
                </a:lnTo>
                <a:lnTo>
                  <a:pt x="0" y="40532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321" t="-9861" r="-1054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069799" y="4829500"/>
            <a:ext cx="3680348" cy="4025566"/>
          </a:xfrm>
          <a:custGeom>
            <a:avLst/>
            <a:gdLst/>
            <a:ahLst/>
            <a:cxnLst/>
            <a:rect l="l" t="t" r="r" b="b"/>
            <a:pathLst>
              <a:path w="3680348" h="4025566">
                <a:moveTo>
                  <a:pt x="0" y="0"/>
                </a:moveTo>
                <a:lnTo>
                  <a:pt x="3680348" y="0"/>
                </a:lnTo>
                <a:lnTo>
                  <a:pt x="3680348" y="4025565"/>
                </a:lnTo>
                <a:lnTo>
                  <a:pt x="0" y="4025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797" r="-3205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4305708" y="317404"/>
            <a:ext cx="6367978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6637" lvl="1" algn="ctr">
              <a:lnSpc>
                <a:spcPts val="4642"/>
              </a:lnSpc>
            </a:pPr>
            <a:r>
              <a:rPr lang="en-US" sz="4785" dirty="0" smtClean="0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4.hậu </a:t>
            </a:r>
            <a:r>
              <a:rPr lang="en-US" sz="4785" dirty="0" err="1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quả</a:t>
            </a:r>
            <a:r>
              <a:rPr lang="en-US" sz="4785" dirty="0">
                <a:solidFill>
                  <a:srgbClr val="143F87"/>
                </a:solidFill>
                <a:latin typeface="Bungee"/>
                <a:ea typeface="Bungee"/>
                <a:cs typeface="Bungee"/>
                <a:sym typeface="Bungee"/>
              </a:rPr>
              <a:t>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20364" y="1638465"/>
            <a:ext cx="5441289" cy="724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28"/>
              </a:lnSpc>
              <a:spcBef>
                <a:spcPct val="0"/>
              </a:spcBef>
            </a:pP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Việc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đảm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bảo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những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hậu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quả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nghiêm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trọng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đối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với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con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làm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co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cứng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cơ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ngất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dẫn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tử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vong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Dòng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còn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bỏng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làm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tổn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thương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da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bộ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phận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bên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cơ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Ngoài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con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ngã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va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đập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chấn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thương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Tai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cũng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ảnh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hưởng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lâu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dài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sức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khỏe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tâm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lý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của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con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Vì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vậy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cần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thực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hiện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nghiêm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túc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quy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định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về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an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toàn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để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bảo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vệ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tính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mạng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sức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2734" dirty="0" err="1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khỏe</a:t>
            </a:r>
            <a:r>
              <a:rPr lang="en-US" sz="2734" dirty="0">
                <a:solidFill>
                  <a:srgbClr val="21418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434015" y="7458821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90"/>
                </a:lnTo>
                <a:lnTo>
                  <a:pt x="0" y="4546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61453" y="-505617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7" y="0"/>
                </a:lnTo>
                <a:lnTo>
                  <a:pt x="34863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568783" y="6830064"/>
            <a:ext cx="3794659" cy="3718765"/>
          </a:xfrm>
          <a:custGeom>
            <a:avLst/>
            <a:gdLst/>
            <a:ahLst/>
            <a:cxnLst/>
            <a:rect l="l" t="t" r="r" b="b"/>
            <a:pathLst>
              <a:path w="3794659" h="3718765">
                <a:moveTo>
                  <a:pt x="0" y="0"/>
                </a:moveTo>
                <a:lnTo>
                  <a:pt x="3794659" y="0"/>
                </a:lnTo>
                <a:lnTo>
                  <a:pt x="3794659" y="3718765"/>
                </a:lnTo>
                <a:lnTo>
                  <a:pt x="0" y="37187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67181" y="2215450"/>
            <a:ext cx="7671938" cy="4614614"/>
          </a:xfrm>
          <a:custGeom>
            <a:avLst/>
            <a:gdLst/>
            <a:ahLst/>
            <a:cxnLst/>
            <a:rect l="l" t="t" r="r" b="b"/>
            <a:pathLst>
              <a:path w="7671938" h="4614614">
                <a:moveTo>
                  <a:pt x="0" y="0"/>
                </a:moveTo>
                <a:lnTo>
                  <a:pt x="7671938" y="0"/>
                </a:lnTo>
                <a:lnTo>
                  <a:pt x="7671938" y="4614614"/>
                </a:lnTo>
                <a:lnTo>
                  <a:pt x="0" y="4614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7000"/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6461122" y="3461579"/>
            <a:ext cx="31327502" cy="1546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78"/>
              </a:lnSpc>
            </a:pPr>
            <a:r>
              <a:rPr lang="en-US" sz="10390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xử lí tình huống 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2637" y="-72189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82600" y="-1557683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321493">
            <a:off x="6300712" y="8352127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729714" y="4387842"/>
            <a:ext cx="12824414" cy="2457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43"/>
              </a:lnSpc>
            </a:pPr>
            <a:r>
              <a:rPr lang="en-US" sz="23490">
                <a:solidFill>
                  <a:srgbClr val="000000"/>
                </a:solidFill>
                <a:latin typeface="Ballet"/>
                <a:ea typeface="Ballet"/>
                <a:cs typeface="Ballet"/>
                <a:sym typeface="Ballet"/>
              </a:rPr>
              <a:t>Thank you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179485" y="6578672"/>
            <a:ext cx="9509944" cy="924839"/>
            <a:chOff x="0" y="0"/>
            <a:chExt cx="2504677" cy="24357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04677" cy="243579"/>
            </a:xfrm>
            <a:custGeom>
              <a:avLst/>
              <a:gdLst/>
              <a:ahLst/>
              <a:cxnLst/>
              <a:rect l="l" t="t" r="r" b="b"/>
              <a:pathLst>
                <a:path w="2504677" h="243579">
                  <a:moveTo>
                    <a:pt x="13839" y="0"/>
                  </a:moveTo>
                  <a:lnTo>
                    <a:pt x="2490837" y="0"/>
                  </a:lnTo>
                  <a:cubicBezTo>
                    <a:pt x="2498480" y="0"/>
                    <a:pt x="2504677" y="6196"/>
                    <a:pt x="2504677" y="13839"/>
                  </a:cubicBezTo>
                  <a:lnTo>
                    <a:pt x="2504677" y="229739"/>
                  </a:lnTo>
                  <a:cubicBezTo>
                    <a:pt x="2504677" y="237383"/>
                    <a:pt x="2498480" y="243579"/>
                    <a:pt x="2490837" y="243579"/>
                  </a:cubicBezTo>
                  <a:lnTo>
                    <a:pt x="13839" y="243579"/>
                  </a:lnTo>
                  <a:cubicBezTo>
                    <a:pt x="6196" y="243579"/>
                    <a:pt x="0" y="237383"/>
                    <a:pt x="0" y="229739"/>
                  </a:cubicBezTo>
                  <a:lnTo>
                    <a:pt x="0" y="13839"/>
                  </a:lnTo>
                  <a:cubicBezTo>
                    <a:pt x="0" y="6196"/>
                    <a:pt x="6196" y="0"/>
                    <a:pt x="13839" y="0"/>
                  </a:cubicBezTo>
                  <a:close/>
                </a:path>
              </a:pathLst>
            </a:custGeom>
            <a:solidFill>
              <a:srgbClr val="CBDCEA">
                <a:alpha val="67843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504677" cy="2816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440580" y="6701049"/>
            <a:ext cx="940268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Sigmar One"/>
                <a:ea typeface="Sigmar One"/>
                <a:cs typeface="Sigmar One"/>
                <a:sym typeface="Sigmar One"/>
              </a:rPr>
              <a:t>Cảm ơn cô và tất cả các bạn !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710</Words>
  <Application>Microsoft Office PowerPoint</Application>
  <PresentationFormat>Custom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Krub Bold</vt:lpstr>
      <vt:lpstr>Calibri</vt:lpstr>
      <vt:lpstr>Arturo</vt:lpstr>
      <vt:lpstr>Agbalumo</vt:lpstr>
      <vt:lpstr>Sigmar One</vt:lpstr>
      <vt:lpstr>Ballet</vt:lpstr>
      <vt:lpstr>Bungee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Thêm tiêu đề</dc:title>
  <dc:creator>KHANH CHI</dc:creator>
  <cp:lastModifiedBy>KHANH CHI</cp:lastModifiedBy>
  <cp:revision>3</cp:revision>
  <dcterms:created xsi:type="dcterms:W3CDTF">2006-08-16T00:00:00Z</dcterms:created>
  <dcterms:modified xsi:type="dcterms:W3CDTF">2026-01-28T04:48:35Z</dcterms:modified>
  <dc:identifier>DAG_bs5ahUs</dc:identifier>
</cp:coreProperties>
</file>