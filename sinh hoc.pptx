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oiny" charset="1" panose="02000903060500060000"/>
      <p:regular r:id="rId14"/>
    </p:embeddedFont>
    <p:embeddedFont>
      <p:font typeface="Atma Bold" charset="1" panose="00000000000000000000"/>
      <p:regular r:id="rId15"/>
    </p:embeddedFont>
    <p:embeddedFont>
      <p:font typeface="Bungee" charset="1" panose="00000000000000000000"/>
      <p:regular r:id="rId16"/>
    </p:embeddedFont>
    <p:embeddedFont>
      <p:font typeface="Sigmar One" charset="1" panose="00000500000000000000"/>
      <p:regular r:id="rId17"/>
    </p:embeddedFont>
    <p:embeddedFont>
      <p:font typeface="Baloo" charset="1" panose="03080902040302020200"/>
      <p:regular r:id="rId18"/>
    </p:embeddedFont>
    <p:embeddedFont>
      <p:font typeface="Agbalumo" charset="1" panose="00000000000000000000"/>
      <p:regular r:id="rId19"/>
    </p:embeddedFont>
    <p:embeddedFont>
      <p:font typeface="Poppins" charset="1" panose="00000500000000000000"/>
      <p:regular r:id="rId20"/>
    </p:embeddedFont>
    <p:embeddedFont>
      <p:font typeface="Moontime"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jpe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jpe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3149738" y="2475107"/>
            <a:ext cx="11988525" cy="3842285"/>
          </a:xfrm>
          <a:prstGeom prst="rect">
            <a:avLst/>
          </a:prstGeom>
        </p:spPr>
        <p:txBody>
          <a:bodyPr anchor="t" rtlCol="false" tIns="0" lIns="0" bIns="0" rIns="0">
            <a:spAutoFit/>
          </a:bodyPr>
          <a:lstStyle/>
          <a:p>
            <a:pPr algn="ctr">
              <a:lnSpc>
                <a:spcPts val="14750"/>
              </a:lnSpc>
            </a:pPr>
            <a:r>
              <a:rPr lang="en-US" sz="15207">
                <a:solidFill>
                  <a:srgbClr val="8C1A44"/>
                </a:solidFill>
                <a:latin typeface="Coiny"/>
                <a:ea typeface="Coiny"/>
                <a:cs typeface="Coiny"/>
                <a:sym typeface="Coiny"/>
              </a:rPr>
              <a:t>Bệnh động kinh  </a:t>
            </a:r>
          </a:p>
        </p:txBody>
      </p:sp>
      <p:sp>
        <p:nvSpPr>
          <p:cNvPr name="Freeform 3" id="3"/>
          <p:cNvSpPr/>
          <p:nvPr/>
        </p:nvSpPr>
        <p:spPr>
          <a:xfrm flipH="false" flipV="false" rot="0">
            <a:off x="-956980" y="6812692"/>
            <a:ext cx="5686281" cy="4114800"/>
          </a:xfrm>
          <a:custGeom>
            <a:avLst/>
            <a:gdLst/>
            <a:ahLst/>
            <a:cxnLst/>
            <a:rect r="r" b="b" t="t" l="l"/>
            <a:pathLst>
              <a:path h="4114800" w="5686281">
                <a:moveTo>
                  <a:pt x="0" y="0"/>
                </a:moveTo>
                <a:lnTo>
                  <a:pt x="5686281" y="0"/>
                </a:lnTo>
                <a:lnTo>
                  <a:pt x="568628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91758" y="-327949"/>
            <a:ext cx="5955836" cy="5165334"/>
          </a:xfrm>
          <a:custGeom>
            <a:avLst/>
            <a:gdLst/>
            <a:ahLst/>
            <a:cxnLst/>
            <a:rect r="r" b="b" t="t" l="l"/>
            <a:pathLst>
              <a:path h="5165334" w="5955836">
                <a:moveTo>
                  <a:pt x="0" y="0"/>
                </a:moveTo>
                <a:lnTo>
                  <a:pt x="5955836" y="0"/>
                </a:lnTo>
                <a:lnTo>
                  <a:pt x="5955836" y="5165334"/>
                </a:lnTo>
                <a:lnTo>
                  <a:pt x="0" y="51653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224664" y="5715019"/>
            <a:ext cx="7011272" cy="6310145"/>
          </a:xfrm>
          <a:custGeom>
            <a:avLst/>
            <a:gdLst/>
            <a:ahLst/>
            <a:cxnLst/>
            <a:rect r="r" b="b" t="t" l="l"/>
            <a:pathLst>
              <a:path h="6310145" w="7011272">
                <a:moveTo>
                  <a:pt x="0" y="0"/>
                </a:moveTo>
                <a:lnTo>
                  <a:pt x="7011272" y="0"/>
                </a:lnTo>
                <a:lnTo>
                  <a:pt x="7011272" y="6310145"/>
                </a:lnTo>
                <a:lnTo>
                  <a:pt x="0" y="63101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352247" y="-2018085"/>
            <a:ext cx="3718283" cy="4114800"/>
          </a:xfrm>
          <a:custGeom>
            <a:avLst/>
            <a:gdLst/>
            <a:ahLst/>
            <a:cxnLst/>
            <a:rect r="r" b="b" t="t" l="l"/>
            <a:pathLst>
              <a:path h="4114800" w="3718283">
                <a:moveTo>
                  <a:pt x="0" y="0"/>
                </a:moveTo>
                <a:lnTo>
                  <a:pt x="3718283" y="0"/>
                </a:lnTo>
                <a:lnTo>
                  <a:pt x="3718283" y="4114800"/>
                </a:lnTo>
                <a:lnTo>
                  <a:pt x="0" y="4114800"/>
                </a:lnTo>
                <a:lnTo>
                  <a:pt x="0" y="0"/>
                </a:lnTo>
                <a:close/>
              </a:path>
            </a:pathLst>
          </a:custGeom>
          <a:blipFill>
            <a:blip r:embed="rId8">
              <a:alphaModFix amt="43999"/>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812062" y="8465767"/>
            <a:ext cx="3718283" cy="4114800"/>
          </a:xfrm>
          <a:custGeom>
            <a:avLst/>
            <a:gdLst/>
            <a:ahLst/>
            <a:cxnLst/>
            <a:rect r="r" b="b" t="t" l="l"/>
            <a:pathLst>
              <a:path h="4114800" w="3718283">
                <a:moveTo>
                  <a:pt x="0" y="0"/>
                </a:moveTo>
                <a:lnTo>
                  <a:pt x="3718283" y="0"/>
                </a:lnTo>
                <a:lnTo>
                  <a:pt x="3718283" y="4114800"/>
                </a:lnTo>
                <a:lnTo>
                  <a:pt x="0" y="4114800"/>
                </a:lnTo>
                <a:lnTo>
                  <a:pt x="0" y="0"/>
                </a:lnTo>
                <a:close/>
              </a:path>
            </a:pathLst>
          </a:custGeom>
          <a:blipFill>
            <a:blip r:embed="rId8">
              <a:alphaModFix amt="43999"/>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224664" y="-3086100"/>
            <a:ext cx="6062472" cy="8229600"/>
          </a:xfrm>
          <a:custGeom>
            <a:avLst/>
            <a:gdLst/>
            <a:ahLst/>
            <a:cxnLst/>
            <a:rect r="r" b="b" t="t" l="l"/>
            <a:pathLst>
              <a:path h="8229600" w="6062472">
                <a:moveTo>
                  <a:pt x="0" y="0"/>
                </a:moveTo>
                <a:lnTo>
                  <a:pt x="6062472" y="0"/>
                </a:lnTo>
                <a:lnTo>
                  <a:pt x="6062472" y="8229600"/>
                </a:lnTo>
                <a:lnTo>
                  <a:pt x="0" y="8229600"/>
                </a:lnTo>
                <a:lnTo>
                  <a:pt x="0" y="0"/>
                </a:lnTo>
                <a:close/>
              </a:path>
            </a:pathLst>
          </a:custGeom>
          <a:blipFill>
            <a:blip r:embed="rId10"/>
            <a:stretch>
              <a:fillRect l="0" t="0" r="0" b="0"/>
            </a:stretch>
          </a:blipFill>
        </p:spPr>
      </p:sp>
      <p:sp>
        <p:nvSpPr>
          <p:cNvPr name="TextBox 9" id="9"/>
          <p:cNvSpPr txBox="true"/>
          <p:nvPr/>
        </p:nvSpPr>
        <p:spPr>
          <a:xfrm rot="0">
            <a:off x="-1090237" y="6355752"/>
            <a:ext cx="20603251" cy="828154"/>
          </a:xfrm>
          <a:prstGeom prst="rect">
            <a:avLst/>
          </a:prstGeom>
        </p:spPr>
        <p:txBody>
          <a:bodyPr anchor="t" rtlCol="false" tIns="0" lIns="0" bIns="0" rIns="0">
            <a:spAutoFit/>
          </a:bodyPr>
          <a:lstStyle/>
          <a:p>
            <a:pPr algn="ctr">
              <a:lnSpc>
                <a:spcPts val="6876"/>
              </a:lnSpc>
            </a:pPr>
            <a:r>
              <a:rPr lang="en-US" b="true" sz="4911" spc="54">
                <a:solidFill>
                  <a:srgbClr val="8C1A44"/>
                </a:solidFill>
                <a:latin typeface="Atma Bold"/>
                <a:ea typeface="Atma Bold"/>
                <a:cs typeface="Atma Bold"/>
                <a:sym typeface="Atma Bold"/>
              </a:rPr>
              <a:t>khái niệm - nguyên nhân - biểu hiện - cách sơ cứu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4765334" y="6882414"/>
            <a:ext cx="4276025" cy="4732019"/>
          </a:xfrm>
          <a:custGeom>
            <a:avLst/>
            <a:gdLst/>
            <a:ahLst/>
            <a:cxnLst/>
            <a:rect r="r" b="b" t="t" l="l"/>
            <a:pathLst>
              <a:path h="4732019" w="4276025">
                <a:moveTo>
                  <a:pt x="0" y="0"/>
                </a:moveTo>
                <a:lnTo>
                  <a:pt x="4276025" y="0"/>
                </a:lnTo>
                <a:lnTo>
                  <a:pt x="4276025" y="4732020"/>
                </a:lnTo>
                <a:lnTo>
                  <a:pt x="0" y="4732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98975" y="-2446404"/>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84607" y="6265195"/>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926744" y="8633708"/>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653774" y="-169974"/>
            <a:ext cx="2217256" cy="1653292"/>
          </a:xfrm>
          <a:custGeom>
            <a:avLst/>
            <a:gdLst/>
            <a:ahLst/>
            <a:cxnLst/>
            <a:rect r="r" b="b" t="t" l="l"/>
            <a:pathLst>
              <a:path h="1653292" w="2217256">
                <a:moveTo>
                  <a:pt x="0" y="0"/>
                </a:moveTo>
                <a:lnTo>
                  <a:pt x="2217256" y="0"/>
                </a:lnTo>
                <a:lnTo>
                  <a:pt x="2217256" y="1653293"/>
                </a:lnTo>
                <a:lnTo>
                  <a:pt x="0" y="1653293"/>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452197" y="4316854"/>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237663" y="-1423883"/>
            <a:ext cx="5376379" cy="5445688"/>
          </a:xfrm>
          <a:custGeom>
            <a:avLst/>
            <a:gdLst/>
            <a:ahLst/>
            <a:cxnLst/>
            <a:rect r="r" b="b" t="t" l="l"/>
            <a:pathLst>
              <a:path h="5445688" w="5376379">
                <a:moveTo>
                  <a:pt x="0" y="0"/>
                </a:moveTo>
                <a:lnTo>
                  <a:pt x="5376379" y="0"/>
                </a:lnTo>
                <a:lnTo>
                  <a:pt x="5376379" y="5445688"/>
                </a:lnTo>
                <a:lnTo>
                  <a:pt x="0" y="54456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3292775" y="676479"/>
            <a:ext cx="11857516" cy="1104071"/>
          </a:xfrm>
          <a:prstGeom prst="rect">
            <a:avLst/>
          </a:prstGeom>
        </p:spPr>
        <p:txBody>
          <a:bodyPr anchor="t" rtlCol="false" tIns="0" lIns="0" bIns="0" rIns="0">
            <a:spAutoFit/>
          </a:bodyPr>
          <a:lstStyle/>
          <a:p>
            <a:pPr algn="ctr" marL="0" indent="0" lvl="0">
              <a:lnSpc>
                <a:spcPts val="8145"/>
              </a:lnSpc>
              <a:spcBef>
                <a:spcPct val="0"/>
              </a:spcBef>
            </a:pPr>
            <a:r>
              <a:rPr lang="en-US" sz="5818">
                <a:solidFill>
                  <a:srgbClr val="8C1A44"/>
                </a:solidFill>
                <a:latin typeface="Bungee"/>
                <a:ea typeface="Bungee"/>
                <a:cs typeface="Bungee"/>
                <a:sym typeface="Bungee"/>
              </a:rPr>
              <a:t>thành viên nhóm : </a:t>
            </a:r>
          </a:p>
        </p:txBody>
      </p:sp>
      <p:sp>
        <p:nvSpPr>
          <p:cNvPr name="TextBox 10" id="10"/>
          <p:cNvSpPr txBox="true"/>
          <p:nvPr/>
        </p:nvSpPr>
        <p:spPr>
          <a:xfrm rot="0">
            <a:off x="3545463" y="3569967"/>
            <a:ext cx="3491359" cy="746886"/>
          </a:xfrm>
          <a:prstGeom prst="rect">
            <a:avLst/>
          </a:prstGeom>
        </p:spPr>
        <p:txBody>
          <a:bodyPr anchor="t" rtlCol="false" tIns="0" lIns="0" bIns="0" rIns="0">
            <a:spAutoFit/>
          </a:bodyPr>
          <a:lstStyle/>
          <a:p>
            <a:pPr algn="ctr" marL="0" indent="0" lvl="0">
              <a:lnSpc>
                <a:spcPts val="6083"/>
              </a:lnSpc>
              <a:spcBef>
                <a:spcPct val="0"/>
              </a:spcBef>
            </a:pPr>
            <a:r>
              <a:rPr lang="en-US" sz="4345">
                <a:solidFill>
                  <a:srgbClr val="A0325B"/>
                </a:solidFill>
                <a:latin typeface="Sigmar One"/>
                <a:ea typeface="Sigmar One"/>
                <a:cs typeface="Sigmar One"/>
                <a:sym typeface="Sigmar One"/>
              </a:rPr>
              <a:t>khánh chi </a:t>
            </a:r>
          </a:p>
        </p:txBody>
      </p:sp>
      <p:sp>
        <p:nvSpPr>
          <p:cNvPr name="TextBox 11" id="11"/>
          <p:cNvSpPr txBox="true"/>
          <p:nvPr/>
        </p:nvSpPr>
        <p:spPr>
          <a:xfrm rot="0">
            <a:off x="2977529" y="2421885"/>
            <a:ext cx="4627228" cy="728982"/>
          </a:xfrm>
          <a:prstGeom prst="rect">
            <a:avLst/>
          </a:prstGeom>
        </p:spPr>
        <p:txBody>
          <a:bodyPr anchor="t" rtlCol="false" tIns="0" lIns="0" bIns="0" rIns="0">
            <a:spAutoFit/>
          </a:bodyPr>
          <a:lstStyle/>
          <a:p>
            <a:pPr algn="ctr" marL="0" indent="0" lvl="0">
              <a:lnSpc>
                <a:spcPts val="6019"/>
              </a:lnSpc>
              <a:spcBef>
                <a:spcPct val="0"/>
              </a:spcBef>
            </a:pPr>
            <a:r>
              <a:rPr lang="en-US" sz="4299">
                <a:solidFill>
                  <a:srgbClr val="A0325B"/>
                </a:solidFill>
                <a:latin typeface="Sigmar One"/>
                <a:ea typeface="Sigmar One"/>
                <a:cs typeface="Sigmar One"/>
                <a:sym typeface="Sigmar One"/>
              </a:rPr>
              <a:t>đức tâm </a:t>
            </a:r>
          </a:p>
        </p:txBody>
      </p:sp>
      <p:sp>
        <p:nvSpPr>
          <p:cNvPr name="TextBox 12" id="12"/>
          <p:cNvSpPr txBox="true"/>
          <p:nvPr/>
        </p:nvSpPr>
        <p:spPr>
          <a:xfrm rot="0">
            <a:off x="4283098" y="4740910"/>
            <a:ext cx="1856780" cy="728980"/>
          </a:xfrm>
          <a:prstGeom prst="rect">
            <a:avLst/>
          </a:prstGeom>
        </p:spPr>
        <p:txBody>
          <a:bodyPr anchor="t" rtlCol="false" tIns="0" lIns="0" bIns="0" rIns="0">
            <a:spAutoFit/>
          </a:bodyPr>
          <a:lstStyle/>
          <a:p>
            <a:pPr algn="ctr" marL="0" indent="0" lvl="0">
              <a:lnSpc>
                <a:spcPts val="6020"/>
              </a:lnSpc>
              <a:spcBef>
                <a:spcPct val="0"/>
              </a:spcBef>
            </a:pPr>
            <a:r>
              <a:rPr lang="en-US" sz="4300">
                <a:solidFill>
                  <a:srgbClr val="A0325B"/>
                </a:solidFill>
                <a:latin typeface="Sigmar One"/>
                <a:ea typeface="Sigmar One"/>
                <a:cs typeface="Sigmar One"/>
                <a:sym typeface="Sigmar One"/>
              </a:rPr>
              <a:t>hà vy</a:t>
            </a:r>
          </a:p>
        </p:txBody>
      </p:sp>
      <p:sp>
        <p:nvSpPr>
          <p:cNvPr name="TextBox 13" id="13"/>
          <p:cNvSpPr txBox="true"/>
          <p:nvPr/>
        </p:nvSpPr>
        <p:spPr>
          <a:xfrm rot="0">
            <a:off x="3292775" y="6005653"/>
            <a:ext cx="3567708" cy="728982"/>
          </a:xfrm>
          <a:prstGeom prst="rect">
            <a:avLst/>
          </a:prstGeom>
        </p:spPr>
        <p:txBody>
          <a:bodyPr anchor="t" rtlCol="false" tIns="0" lIns="0" bIns="0" rIns="0">
            <a:spAutoFit/>
          </a:bodyPr>
          <a:lstStyle/>
          <a:p>
            <a:pPr algn="ctr" marL="0" indent="0" lvl="0">
              <a:lnSpc>
                <a:spcPts val="6019"/>
              </a:lnSpc>
              <a:spcBef>
                <a:spcPct val="0"/>
              </a:spcBef>
            </a:pPr>
            <a:r>
              <a:rPr lang="en-US" sz="4299">
                <a:solidFill>
                  <a:srgbClr val="A0325B"/>
                </a:solidFill>
                <a:latin typeface="Sigmar One"/>
                <a:ea typeface="Sigmar One"/>
                <a:cs typeface="Sigmar One"/>
                <a:sym typeface="Sigmar One"/>
              </a:rPr>
              <a:t>minh hằng </a:t>
            </a:r>
          </a:p>
        </p:txBody>
      </p:sp>
      <p:sp>
        <p:nvSpPr>
          <p:cNvPr name="TextBox 14" id="14"/>
          <p:cNvSpPr txBox="true"/>
          <p:nvPr/>
        </p:nvSpPr>
        <p:spPr>
          <a:xfrm rot="0">
            <a:off x="3028638" y="7270398"/>
            <a:ext cx="4228505" cy="728980"/>
          </a:xfrm>
          <a:prstGeom prst="rect">
            <a:avLst/>
          </a:prstGeom>
        </p:spPr>
        <p:txBody>
          <a:bodyPr anchor="t" rtlCol="false" tIns="0" lIns="0" bIns="0" rIns="0">
            <a:spAutoFit/>
          </a:bodyPr>
          <a:lstStyle/>
          <a:p>
            <a:pPr algn="ctr" marL="0" indent="0" lvl="0">
              <a:lnSpc>
                <a:spcPts val="6019"/>
              </a:lnSpc>
              <a:spcBef>
                <a:spcPct val="0"/>
              </a:spcBef>
            </a:pPr>
            <a:r>
              <a:rPr lang="en-US" sz="4299">
                <a:solidFill>
                  <a:srgbClr val="A0325B"/>
                </a:solidFill>
                <a:latin typeface="Sigmar One"/>
                <a:ea typeface="Sigmar One"/>
                <a:cs typeface="Sigmar One"/>
                <a:sym typeface="Sigmar One"/>
              </a:rPr>
              <a:t>nguyên long </a:t>
            </a:r>
          </a:p>
        </p:txBody>
      </p:sp>
      <p:sp>
        <p:nvSpPr>
          <p:cNvPr name="TextBox 15" id="15"/>
          <p:cNvSpPr txBox="true"/>
          <p:nvPr/>
        </p:nvSpPr>
        <p:spPr>
          <a:xfrm rot="0">
            <a:off x="10379802" y="7270398"/>
            <a:ext cx="5047235" cy="728980"/>
          </a:xfrm>
          <a:prstGeom prst="rect">
            <a:avLst/>
          </a:prstGeom>
        </p:spPr>
        <p:txBody>
          <a:bodyPr anchor="t" rtlCol="false" tIns="0" lIns="0" bIns="0" rIns="0">
            <a:spAutoFit/>
          </a:bodyPr>
          <a:lstStyle/>
          <a:p>
            <a:pPr algn="ctr" marL="0" indent="0" lvl="0">
              <a:lnSpc>
                <a:spcPts val="6019"/>
              </a:lnSpc>
              <a:spcBef>
                <a:spcPct val="0"/>
              </a:spcBef>
            </a:pPr>
            <a:r>
              <a:rPr lang="en-US" sz="4299">
                <a:solidFill>
                  <a:srgbClr val="A0325B"/>
                </a:solidFill>
                <a:latin typeface="Sigmar One"/>
                <a:ea typeface="Sigmar One"/>
                <a:cs typeface="Sigmar One"/>
                <a:sym typeface="Sigmar One"/>
              </a:rPr>
              <a:t>hữu thịnh</a:t>
            </a:r>
          </a:p>
        </p:txBody>
      </p:sp>
      <p:sp>
        <p:nvSpPr>
          <p:cNvPr name="TextBox 16" id="16"/>
          <p:cNvSpPr txBox="true"/>
          <p:nvPr/>
        </p:nvSpPr>
        <p:spPr>
          <a:xfrm rot="0">
            <a:off x="11494700" y="2421885"/>
            <a:ext cx="3280470" cy="728982"/>
          </a:xfrm>
          <a:prstGeom prst="rect">
            <a:avLst/>
          </a:prstGeom>
        </p:spPr>
        <p:txBody>
          <a:bodyPr anchor="t" rtlCol="false" tIns="0" lIns="0" bIns="0" rIns="0">
            <a:spAutoFit/>
          </a:bodyPr>
          <a:lstStyle/>
          <a:p>
            <a:pPr algn="ctr" marL="0" indent="0" lvl="0">
              <a:lnSpc>
                <a:spcPts val="6019"/>
              </a:lnSpc>
              <a:spcBef>
                <a:spcPct val="0"/>
              </a:spcBef>
            </a:pPr>
            <a:r>
              <a:rPr lang="en-US" sz="4299">
                <a:solidFill>
                  <a:srgbClr val="A0325B"/>
                </a:solidFill>
                <a:latin typeface="Sigmar One"/>
                <a:ea typeface="Sigmar One"/>
                <a:cs typeface="Sigmar One"/>
                <a:sym typeface="Sigmar One"/>
              </a:rPr>
              <a:t>sỹ hoàng</a:t>
            </a:r>
            <a:r>
              <a:rPr lang="en-US" sz="4299">
                <a:solidFill>
                  <a:srgbClr val="000000"/>
                </a:solidFill>
                <a:latin typeface="Sigmar One"/>
                <a:ea typeface="Sigmar One"/>
                <a:cs typeface="Sigmar One"/>
                <a:sym typeface="Sigmar One"/>
              </a:rPr>
              <a:t>  </a:t>
            </a:r>
          </a:p>
        </p:txBody>
      </p:sp>
      <p:sp>
        <p:nvSpPr>
          <p:cNvPr name="TextBox 17" id="17"/>
          <p:cNvSpPr txBox="true"/>
          <p:nvPr/>
        </p:nvSpPr>
        <p:spPr>
          <a:xfrm rot="0">
            <a:off x="10476680" y="4755295"/>
            <a:ext cx="5011918" cy="728982"/>
          </a:xfrm>
          <a:prstGeom prst="rect">
            <a:avLst/>
          </a:prstGeom>
        </p:spPr>
        <p:txBody>
          <a:bodyPr anchor="t" rtlCol="false" tIns="0" lIns="0" bIns="0" rIns="0">
            <a:spAutoFit/>
          </a:bodyPr>
          <a:lstStyle/>
          <a:p>
            <a:pPr algn="ctr" marL="0" indent="0" lvl="0">
              <a:lnSpc>
                <a:spcPts val="6019"/>
              </a:lnSpc>
              <a:spcBef>
                <a:spcPct val="0"/>
              </a:spcBef>
            </a:pPr>
            <a:r>
              <a:rPr lang="en-US" sz="4299">
                <a:solidFill>
                  <a:srgbClr val="A0325B"/>
                </a:solidFill>
                <a:latin typeface="Sigmar One"/>
                <a:ea typeface="Sigmar One"/>
                <a:cs typeface="Sigmar One"/>
                <a:sym typeface="Sigmar One"/>
              </a:rPr>
              <a:t>đức cường</a:t>
            </a:r>
          </a:p>
        </p:txBody>
      </p:sp>
      <p:sp>
        <p:nvSpPr>
          <p:cNvPr name="TextBox 18" id="18"/>
          <p:cNvSpPr txBox="true"/>
          <p:nvPr/>
        </p:nvSpPr>
        <p:spPr>
          <a:xfrm rot="0">
            <a:off x="10781272" y="3619215"/>
            <a:ext cx="4707326" cy="728980"/>
          </a:xfrm>
          <a:prstGeom prst="rect">
            <a:avLst/>
          </a:prstGeom>
        </p:spPr>
        <p:txBody>
          <a:bodyPr anchor="t" rtlCol="false" tIns="0" lIns="0" bIns="0" rIns="0">
            <a:spAutoFit/>
          </a:bodyPr>
          <a:lstStyle/>
          <a:p>
            <a:pPr algn="ctr" marL="0" indent="0" lvl="0">
              <a:lnSpc>
                <a:spcPts val="6019"/>
              </a:lnSpc>
              <a:spcBef>
                <a:spcPct val="0"/>
              </a:spcBef>
            </a:pPr>
            <a:r>
              <a:rPr lang="en-US" sz="4299">
                <a:solidFill>
                  <a:srgbClr val="A0325B"/>
                </a:solidFill>
                <a:latin typeface="Sigmar One"/>
                <a:ea typeface="Sigmar One"/>
                <a:cs typeface="Sigmar One"/>
                <a:sym typeface="Sigmar One"/>
              </a:rPr>
              <a:t>mạnh dũng </a:t>
            </a:r>
          </a:p>
        </p:txBody>
      </p:sp>
      <p:sp>
        <p:nvSpPr>
          <p:cNvPr name="TextBox 19" id="19"/>
          <p:cNvSpPr txBox="true"/>
          <p:nvPr/>
        </p:nvSpPr>
        <p:spPr>
          <a:xfrm rot="0">
            <a:off x="11295183" y="5893852"/>
            <a:ext cx="3216473" cy="728982"/>
          </a:xfrm>
          <a:prstGeom prst="rect">
            <a:avLst/>
          </a:prstGeom>
        </p:spPr>
        <p:txBody>
          <a:bodyPr anchor="t" rtlCol="false" tIns="0" lIns="0" bIns="0" rIns="0">
            <a:spAutoFit/>
          </a:bodyPr>
          <a:lstStyle/>
          <a:p>
            <a:pPr algn="ctr" marL="0" indent="0" lvl="0">
              <a:lnSpc>
                <a:spcPts val="6019"/>
              </a:lnSpc>
              <a:spcBef>
                <a:spcPct val="0"/>
              </a:spcBef>
            </a:pPr>
            <a:r>
              <a:rPr lang="en-US" sz="4299">
                <a:solidFill>
                  <a:srgbClr val="A0325B"/>
                </a:solidFill>
                <a:latin typeface="Sigmar One"/>
                <a:ea typeface="Sigmar One"/>
                <a:cs typeface="Sigmar One"/>
                <a:sym typeface="Sigmar One"/>
              </a:rPr>
              <a:t>ngọc diệp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871030" y="1185084"/>
            <a:ext cx="6545941" cy="885799"/>
          </a:xfrm>
          <a:prstGeom prst="rect">
            <a:avLst/>
          </a:prstGeom>
        </p:spPr>
        <p:txBody>
          <a:bodyPr anchor="t" rtlCol="false" tIns="0" lIns="0" bIns="0" rIns="0">
            <a:spAutoFit/>
          </a:bodyPr>
          <a:lstStyle/>
          <a:p>
            <a:pPr algn="ctr">
              <a:lnSpc>
                <a:spcPts val="6641"/>
              </a:lnSpc>
            </a:pPr>
          </a:p>
        </p:txBody>
      </p:sp>
      <p:sp>
        <p:nvSpPr>
          <p:cNvPr name="Freeform 3" id="3"/>
          <p:cNvSpPr/>
          <p:nvPr/>
        </p:nvSpPr>
        <p:spPr>
          <a:xfrm flipH="false" flipV="false" rot="0">
            <a:off x="14765334" y="6882414"/>
            <a:ext cx="4276025" cy="4732019"/>
          </a:xfrm>
          <a:custGeom>
            <a:avLst/>
            <a:gdLst/>
            <a:ahLst/>
            <a:cxnLst/>
            <a:rect r="r" b="b" t="t" l="l"/>
            <a:pathLst>
              <a:path h="4732019" w="4276025">
                <a:moveTo>
                  <a:pt x="0" y="0"/>
                </a:moveTo>
                <a:lnTo>
                  <a:pt x="4276025" y="0"/>
                </a:lnTo>
                <a:lnTo>
                  <a:pt x="4276025" y="4732020"/>
                </a:lnTo>
                <a:lnTo>
                  <a:pt x="0" y="4732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84825" y="-3450217"/>
            <a:ext cx="8459343" cy="7582647"/>
          </a:xfrm>
          <a:custGeom>
            <a:avLst/>
            <a:gdLst/>
            <a:ahLst/>
            <a:cxnLst/>
            <a:rect r="r" b="b" t="t" l="l"/>
            <a:pathLst>
              <a:path h="7582647" w="8459343">
                <a:moveTo>
                  <a:pt x="0" y="0"/>
                </a:moveTo>
                <a:lnTo>
                  <a:pt x="8459342" y="0"/>
                </a:lnTo>
                <a:lnTo>
                  <a:pt x="8459342" y="7582648"/>
                </a:lnTo>
                <a:lnTo>
                  <a:pt x="0" y="7582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584607" y="6265195"/>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926744" y="8633708"/>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653774" y="-169974"/>
            <a:ext cx="2217256" cy="1653292"/>
          </a:xfrm>
          <a:custGeom>
            <a:avLst/>
            <a:gdLst/>
            <a:ahLst/>
            <a:cxnLst/>
            <a:rect r="r" b="b" t="t" l="l"/>
            <a:pathLst>
              <a:path h="1653292" w="2217256">
                <a:moveTo>
                  <a:pt x="0" y="0"/>
                </a:moveTo>
                <a:lnTo>
                  <a:pt x="2217256" y="0"/>
                </a:lnTo>
                <a:lnTo>
                  <a:pt x="2217256" y="1653293"/>
                </a:lnTo>
                <a:lnTo>
                  <a:pt x="0" y="1653293"/>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452197" y="4316854"/>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237663" y="-1423883"/>
            <a:ext cx="5376379" cy="5445688"/>
          </a:xfrm>
          <a:custGeom>
            <a:avLst/>
            <a:gdLst/>
            <a:ahLst/>
            <a:cxnLst/>
            <a:rect r="r" b="b" t="t" l="l"/>
            <a:pathLst>
              <a:path h="5445688" w="5376379">
                <a:moveTo>
                  <a:pt x="0" y="0"/>
                </a:moveTo>
                <a:lnTo>
                  <a:pt x="5376379" y="0"/>
                </a:lnTo>
                <a:lnTo>
                  <a:pt x="5376379" y="5445688"/>
                </a:lnTo>
                <a:lnTo>
                  <a:pt x="0" y="54456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9139238" y="5034915"/>
            <a:ext cx="9525" cy="198120"/>
          </a:xfrm>
          <a:prstGeom prst="rect">
            <a:avLst/>
          </a:prstGeom>
        </p:spPr>
        <p:txBody>
          <a:bodyPr anchor="t" rtlCol="false" tIns="0" lIns="0" bIns="0" rIns="0">
            <a:spAutoFit/>
          </a:bodyPr>
          <a:lstStyle/>
          <a:p>
            <a:pPr algn="ctr" marL="0" indent="0" lvl="0">
              <a:lnSpc>
                <a:spcPts val="1679"/>
              </a:lnSpc>
              <a:spcBef>
                <a:spcPct val="0"/>
              </a:spcBef>
            </a:pPr>
          </a:p>
        </p:txBody>
      </p:sp>
      <p:sp>
        <p:nvSpPr>
          <p:cNvPr name="TextBox 11" id="11"/>
          <p:cNvSpPr txBox="true"/>
          <p:nvPr/>
        </p:nvSpPr>
        <p:spPr>
          <a:xfrm rot="0">
            <a:off x="1370433" y="269262"/>
            <a:ext cx="3994943" cy="978991"/>
          </a:xfrm>
          <a:prstGeom prst="rect">
            <a:avLst/>
          </a:prstGeom>
        </p:spPr>
        <p:txBody>
          <a:bodyPr anchor="t" rtlCol="false" tIns="0" lIns="0" bIns="0" rIns="0">
            <a:spAutoFit/>
          </a:bodyPr>
          <a:lstStyle/>
          <a:p>
            <a:pPr algn="ctr" marL="0" indent="0" lvl="0">
              <a:lnSpc>
                <a:spcPts val="7983"/>
              </a:lnSpc>
              <a:spcBef>
                <a:spcPct val="0"/>
              </a:spcBef>
            </a:pPr>
            <a:r>
              <a:rPr lang="en-US" sz="5702" strike="noStrike" u="none">
                <a:solidFill>
                  <a:srgbClr val="8C1A44"/>
                </a:solidFill>
                <a:latin typeface="Baloo"/>
                <a:ea typeface="Baloo"/>
                <a:cs typeface="Baloo"/>
                <a:sym typeface="Baloo"/>
              </a:rPr>
              <a:t>1. khái niệm:</a:t>
            </a:r>
          </a:p>
        </p:txBody>
      </p:sp>
      <p:sp>
        <p:nvSpPr>
          <p:cNvPr name="TextBox 12" id="12"/>
          <p:cNvSpPr txBox="true"/>
          <p:nvPr/>
        </p:nvSpPr>
        <p:spPr>
          <a:xfrm rot="0">
            <a:off x="9139238" y="4863465"/>
            <a:ext cx="9525" cy="1691640"/>
          </a:xfrm>
          <a:prstGeom prst="rect">
            <a:avLst/>
          </a:prstGeom>
        </p:spPr>
        <p:txBody>
          <a:bodyPr anchor="t" rtlCol="false" tIns="0" lIns="0" bIns="0" rIns="0">
            <a:spAutoFit/>
          </a:bodyPr>
          <a:lstStyle/>
          <a:p>
            <a:pPr algn="ctr" marL="0" indent="0" lvl="0">
              <a:lnSpc>
                <a:spcPts val="13860"/>
              </a:lnSpc>
              <a:spcBef>
                <a:spcPct val="0"/>
              </a:spcBef>
            </a:pPr>
          </a:p>
        </p:txBody>
      </p:sp>
      <p:sp>
        <p:nvSpPr>
          <p:cNvPr name="TextBox 13" id="13"/>
          <p:cNvSpPr txBox="true"/>
          <p:nvPr/>
        </p:nvSpPr>
        <p:spPr>
          <a:xfrm rot="0">
            <a:off x="9139238" y="5025390"/>
            <a:ext cx="9525" cy="207645"/>
          </a:xfrm>
          <a:prstGeom prst="rect">
            <a:avLst/>
          </a:prstGeom>
        </p:spPr>
        <p:txBody>
          <a:bodyPr anchor="t" rtlCol="false" tIns="0" lIns="0" bIns="0" rIns="0">
            <a:spAutoFit/>
          </a:bodyPr>
          <a:lstStyle/>
          <a:p>
            <a:pPr algn="ctr" marL="0" indent="0" lvl="0">
              <a:lnSpc>
                <a:spcPts val="1679"/>
              </a:lnSpc>
              <a:spcBef>
                <a:spcPct val="0"/>
              </a:spcBef>
            </a:pPr>
          </a:p>
        </p:txBody>
      </p:sp>
      <p:sp>
        <p:nvSpPr>
          <p:cNvPr name="TextBox 14" id="14"/>
          <p:cNvSpPr txBox="true"/>
          <p:nvPr/>
        </p:nvSpPr>
        <p:spPr>
          <a:xfrm rot="0">
            <a:off x="1277764" y="1337760"/>
            <a:ext cx="15174433" cy="7685774"/>
          </a:xfrm>
          <a:prstGeom prst="rect">
            <a:avLst/>
          </a:prstGeom>
        </p:spPr>
        <p:txBody>
          <a:bodyPr anchor="t" rtlCol="false" tIns="0" lIns="0" bIns="0" rIns="0">
            <a:spAutoFit/>
          </a:bodyPr>
          <a:lstStyle/>
          <a:p>
            <a:pPr algn="ctr" marL="0" indent="0" lvl="0">
              <a:lnSpc>
                <a:spcPts val="7620"/>
              </a:lnSpc>
              <a:spcBef>
                <a:spcPct val="0"/>
              </a:spcBef>
            </a:pPr>
            <a:r>
              <a:rPr lang="en-US" sz="5443" strike="noStrike" u="none">
                <a:solidFill>
                  <a:srgbClr val="8C1A44"/>
                </a:solidFill>
                <a:latin typeface="Agbalumo"/>
                <a:ea typeface="Agbalumo"/>
                <a:cs typeface="Agbalumo"/>
                <a:sym typeface="Agbalumo"/>
              </a:rPr>
              <a:t>Bệnh động kinh là gì?</a:t>
            </a:r>
          </a:p>
          <a:p>
            <a:pPr algn="ctr" marL="0" indent="0" lvl="0">
              <a:lnSpc>
                <a:spcPts val="7620"/>
              </a:lnSpc>
              <a:spcBef>
                <a:spcPct val="0"/>
              </a:spcBef>
            </a:pPr>
            <a:r>
              <a:rPr lang="en-US" sz="5443" strike="noStrike" u="none">
                <a:solidFill>
                  <a:srgbClr val="8C1A44"/>
                </a:solidFill>
                <a:latin typeface="Agbalumo"/>
                <a:ea typeface="Agbalumo"/>
                <a:cs typeface="Agbalumo"/>
                <a:sym typeface="Agbalumo"/>
              </a:rPr>
              <a:t>Động kinh là một rối loạn hệ thần kinh trung ương (não bộ). Bình thường, các tế bào thần kinh (neuron) truyền tin cho nhau bằng các xung điện nhỏ. Khi bị động kinh, các xung điện này đột ngột phóng ra một cách quá mức và không kiểm soát, gây ra các "cơn co giật" hoặc thay đổi về hành vi, cảm giác.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4765334" y="6882414"/>
            <a:ext cx="4276025" cy="4732019"/>
          </a:xfrm>
          <a:custGeom>
            <a:avLst/>
            <a:gdLst/>
            <a:ahLst/>
            <a:cxnLst/>
            <a:rect r="r" b="b" t="t" l="l"/>
            <a:pathLst>
              <a:path h="4732019" w="4276025">
                <a:moveTo>
                  <a:pt x="0" y="0"/>
                </a:moveTo>
                <a:lnTo>
                  <a:pt x="4276025" y="0"/>
                </a:lnTo>
                <a:lnTo>
                  <a:pt x="4276025" y="4732020"/>
                </a:lnTo>
                <a:lnTo>
                  <a:pt x="0" y="4732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98975" y="-2446404"/>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84607" y="6265195"/>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926744" y="8633708"/>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653774" y="-169974"/>
            <a:ext cx="2217256" cy="1653292"/>
          </a:xfrm>
          <a:custGeom>
            <a:avLst/>
            <a:gdLst/>
            <a:ahLst/>
            <a:cxnLst/>
            <a:rect r="r" b="b" t="t" l="l"/>
            <a:pathLst>
              <a:path h="1653292" w="2217256">
                <a:moveTo>
                  <a:pt x="0" y="0"/>
                </a:moveTo>
                <a:lnTo>
                  <a:pt x="2217256" y="0"/>
                </a:lnTo>
                <a:lnTo>
                  <a:pt x="2217256" y="1653293"/>
                </a:lnTo>
                <a:lnTo>
                  <a:pt x="0" y="1653293"/>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452197" y="4316854"/>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237663" y="-1423883"/>
            <a:ext cx="5376379" cy="5445688"/>
          </a:xfrm>
          <a:custGeom>
            <a:avLst/>
            <a:gdLst/>
            <a:ahLst/>
            <a:cxnLst/>
            <a:rect r="r" b="b" t="t" l="l"/>
            <a:pathLst>
              <a:path h="5445688" w="5376379">
                <a:moveTo>
                  <a:pt x="0" y="0"/>
                </a:moveTo>
                <a:lnTo>
                  <a:pt x="5376379" y="0"/>
                </a:lnTo>
                <a:lnTo>
                  <a:pt x="5376379" y="5445688"/>
                </a:lnTo>
                <a:lnTo>
                  <a:pt x="0" y="54456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248581" y="237365"/>
            <a:ext cx="5549338" cy="928594"/>
          </a:xfrm>
          <a:prstGeom prst="rect">
            <a:avLst/>
          </a:prstGeom>
        </p:spPr>
        <p:txBody>
          <a:bodyPr anchor="t" rtlCol="false" tIns="0" lIns="0" bIns="0" rIns="0">
            <a:spAutoFit/>
          </a:bodyPr>
          <a:lstStyle/>
          <a:p>
            <a:pPr algn="ctr" marL="1169155" indent="-584577" lvl="1">
              <a:lnSpc>
                <a:spcPts val="7581"/>
              </a:lnSpc>
              <a:buAutoNum type="arabicPeriod" startAt="1"/>
            </a:pPr>
            <a:r>
              <a:rPr lang="en-US" sz="5415">
                <a:solidFill>
                  <a:srgbClr val="8C1A44"/>
                </a:solidFill>
                <a:latin typeface="Baloo"/>
                <a:ea typeface="Baloo"/>
                <a:cs typeface="Baloo"/>
                <a:sym typeface="Baloo"/>
              </a:rPr>
              <a:t>nguyên nhân: </a:t>
            </a:r>
          </a:p>
        </p:txBody>
      </p:sp>
      <p:sp>
        <p:nvSpPr>
          <p:cNvPr name="TextBox 10" id="10"/>
          <p:cNvSpPr txBox="true"/>
          <p:nvPr/>
        </p:nvSpPr>
        <p:spPr>
          <a:xfrm rot="0">
            <a:off x="3051146" y="10101577"/>
            <a:ext cx="10812364" cy="19700768"/>
          </a:xfrm>
          <a:prstGeom prst="rect">
            <a:avLst/>
          </a:prstGeom>
        </p:spPr>
        <p:txBody>
          <a:bodyPr anchor="t" rtlCol="false" tIns="0" lIns="0" bIns="0" rIns="0">
            <a:spAutoFit/>
          </a:bodyPr>
          <a:lstStyle/>
          <a:p>
            <a:pPr algn="ctr">
              <a:lnSpc>
                <a:spcPts val="8194"/>
              </a:lnSpc>
            </a:pPr>
            <a:r>
              <a:rPr lang="en-US" sz="5853">
                <a:solidFill>
                  <a:srgbClr val="000000"/>
                </a:solidFill>
                <a:latin typeface="Poppins"/>
                <a:ea typeface="Poppins"/>
                <a:cs typeface="Poppins"/>
                <a:sym typeface="Poppins"/>
              </a:rPr>
              <a:t>2 Nguyên nhân:Có rất nhiều nguyên nhân dẫn đến bệnh động kinh, tiêu biểu như:</a:t>
            </a:r>
          </a:p>
          <a:p>
            <a:pPr algn="ctr">
              <a:lnSpc>
                <a:spcPts val="8194"/>
              </a:lnSpc>
            </a:pPr>
          </a:p>
          <a:p>
            <a:pPr algn="ctr">
              <a:lnSpc>
                <a:spcPts val="8194"/>
              </a:lnSpc>
            </a:pPr>
            <a:r>
              <a:rPr lang="en-US" sz="5853">
                <a:solidFill>
                  <a:srgbClr val="000000"/>
                </a:solidFill>
                <a:latin typeface="Poppins"/>
                <a:ea typeface="Poppins"/>
                <a:cs typeface="Poppins"/>
                <a:sym typeface="Poppins"/>
              </a:rPr>
              <a:t>Di truyền: Có tiền sử gia đình mắc bệnh.</a:t>
            </a:r>
          </a:p>
          <a:p>
            <a:pPr algn="ctr">
              <a:lnSpc>
                <a:spcPts val="8194"/>
              </a:lnSpc>
            </a:pPr>
          </a:p>
          <a:p>
            <a:pPr algn="ctr">
              <a:lnSpc>
                <a:spcPts val="8194"/>
              </a:lnSpc>
            </a:pPr>
            <a:r>
              <a:rPr lang="en-US" sz="5853">
                <a:solidFill>
                  <a:srgbClr val="000000"/>
                </a:solidFill>
                <a:latin typeface="Poppins"/>
                <a:ea typeface="Poppins"/>
                <a:cs typeface="Poppins"/>
                <a:sym typeface="Poppins"/>
              </a:rPr>
              <a:t>Chấn thương não: Tai nạn giao thông, va đập mạnh vào đầu.</a:t>
            </a:r>
          </a:p>
          <a:p>
            <a:pPr algn="ctr">
              <a:lnSpc>
                <a:spcPts val="8194"/>
              </a:lnSpc>
            </a:pPr>
          </a:p>
          <a:p>
            <a:pPr algn="ctr">
              <a:lnSpc>
                <a:spcPts val="8194"/>
              </a:lnSpc>
            </a:pPr>
            <a:r>
              <a:rPr lang="en-US" sz="5853">
                <a:solidFill>
                  <a:srgbClr val="000000"/>
                </a:solidFill>
                <a:latin typeface="Poppins"/>
                <a:ea typeface="Poppins"/>
                <a:cs typeface="Poppins"/>
                <a:sym typeface="Poppins"/>
              </a:rPr>
              <a:t>Bệnh lý về não: U não, đột quỵ hoặc viêm màng não.</a:t>
            </a:r>
          </a:p>
          <a:p>
            <a:pPr algn="ctr">
              <a:lnSpc>
                <a:spcPts val="8194"/>
              </a:lnSpc>
            </a:pPr>
          </a:p>
          <a:p>
            <a:pPr algn="ctr">
              <a:lnSpc>
                <a:spcPts val="8194"/>
              </a:lnSpc>
            </a:pPr>
            <a:r>
              <a:rPr lang="en-US" sz="5853">
                <a:solidFill>
                  <a:srgbClr val="000000"/>
                </a:solidFill>
                <a:latin typeface="Poppins"/>
                <a:ea typeface="Poppins"/>
                <a:cs typeface="Poppins"/>
                <a:sym typeface="Poppins"/>
              </a:rPr>
              <a:t>Biến chứng khi sinh: Thiếu oxy trong quá trình chào đời.</a:t>
            </a:r>
          </a:p>
          <a:p>
            <a:pPr algn="ctr">
              <a:lnSpc>
                <a:spcPts val="8194"/>
              </a:lnSpc>
            </a:pPr>
          </a:p>
          <a:p>
            <a:pPr algn="ctr" marL="0" indent="0" lvl="0">
              <a:lnSpc>
                <a:spcPts val="8194"/>
              </a:lnSpc>
              <a:spcBef>
                <a:spcPct val="0"/>
              </a:spcBef>
            </a:pPr>
            <a:r>
              <a:rPr lang="en-US" sz="5853">
                <a:solidFill>
                  <a:srgbClr val="000000"/>
                </a:solidFill>
                <a:latin typeface="Poppins"/>
                <a:ea typeface="Poppins"/>
                <a:cs typeface="Poppins"/>
                <a:sym typeface="Poppins"/>
              </a:rPr>
              <a:t>Rối loạn phát triển: Chẳng hạn như bệnh tự kỷ.</a:t>
            </a:r>
          </a:p>
        </p:txBody>
      </p:sp>
      <p:sp>
        <p:nvSpPr>
          <p:cNvPr name="TextBox 11" id="11"/>
          <p:cNvSpPr txBox="true"/>
          <p:nvPr/>
        </p:nvSpPr>
        <p:spPr>
          <a:xfrm rot="0">
            <a:off x="9139238" y="4968240"/>
            <a:ext cx="9525" cy="771525"/>
          </a:xfrm>
          <a:prstGeom prst="rect">
            <a:avLst/>
          </a:prstGeom>
        </p:spPr>
        <p:txBody>
          <a:bodyPr anchor="t" rtlCol="false" tIns="0" lIns="0" bIns="0" rIns="0">
            <a:spAutoFit/>
          </a:bodyPr>
          <a:lstStyle/>
          <a:p>
            <a:pPr algn="ctr" marL="0" indent="0" lvl="0">
              <a:lnSpc>
                <a:spcPts val="6299"/>
              </a:lnSpc>
              <a:spcBef>
                <a:spcPct val="0"/>
              </a:spcBef>
            </a:pPr>
          </a:p>
        </p:txBody>
      </p:sp>
      <p:sp>
        <p:nvSpPr>
          <p:cNvPr name="TextBox 12" id="12"/>
          <p:cNvSpPr txBox="true"/>
          <p:nvPr/>
        </p:nvSpPr>
        <p:spPr>
          <a:xfrm rot="191401">
            <a:off x="9102577" y="5256649"/>
            <a:ext cx="28551" cy="612964"/>
          </a:xfrm>
          <a:prstGeom prst="rect">
            <a:avLst/>
          </a:prstGeom>
        </p:spPr>
        <p:txBody>
          <a:bodyPr anchor="t" rtlCol="false" tIns="0" lIns="0" bIns="0" rIns="0">
            <a:spAutoFit/>
          </a:bodyPr>
          <a:lstStyle/>
          <a:p>
            <a:pPr algn="ctr" marL="0" indent="0" lvl="0">
              <a:lnSpc>
                <a:spcPts val="5035"/>
              </a:lnSpc>
              <a:spcBef>
                <a:spcPct val="0"/>
              </a:spcBef>
            </a:pPr>
          </a:p>
        </p:txBody>
      </p:sp>
      <p:sp>
        <p:nvSpPr>
          <p:cNvPr name="TextBox 13" id="13"/>
          <p:cNvSpPr txBox="true"/>
          <p:nvPr/>
        </p:nvSpPr>
        <p:spPr>
          <a:xfrm rot="0">
            <a:off x="7885246" y="4398923"/>
            <a:ext cx="6218" cy="898605"/>
          </a:xfrm>
          <a:prstGeom prst="rect">
            <a:avLst/>
          </a:prstGeom>
        </p:spPr>
        <p:txBody>
          <a:bodyPr anchor="t" rtlCol="false" tIns="0" lIns="0" bIns="0" rIns="0">
            <a:spAutoFit/>
          </a:bodyPr>
          <a:lstStyle/>
          <a:p>
            <a:pPr algn="ctr" marL="0" indent="0" lvl="0">
              <a:lnSpc>
                <a:spcPts val="7311"/>
              </a:lnSpc>
              <a:spcBef>
                <a:spcPct val="0"/>
              </a:spcBef>
            </a:pPr>
          </a:p>
        </p:txBody>
      </p:sp>
      <p:sp>
        <p:nvSpPr>
          <p:cNvPr name="TextBox 14" id="14"/>
          <p:cNvSpPr txBox="true"/>
          <p:nvPr/>
        </p:nvSpPr>
        <p:spPr>
          <a:xfrm rot="0">
            <a:off x="450526" y="1742354"/>
            <a:ext cx="17128532" cy="7103915"/>
          </a:xfrm>
          <a:prstGeom prst="rect">
            <a:avLst/>
          </a:prstGeom>
        </p:spPr>
        <p:txBody>
          <a:bodyPr anchor="t" rtlCol="false" tIns="0" lIns="0" bIns="0" rIns="0">
            <a:spAutoFit/>
          </a:bodyPr>
          <a:lstStyle/>
          <a:p>
            <a:pPr algn="ctr">
              <a:lnSpc>
                <a:spcPts val="5113"/>
              </a:lnSpc>
            </a:pPr>
            <a:r>
              <a:rPr lang="en-US" sz="3652">
                <a:solidFill>
                  <a:srgbClr val="8C1A44"/>
                </a:solidFill>
                <a:latin typeface="Agbalumo"/>
                <a:ea typeface="Agbalumo"/>
                <a:cs typeface="Agbalumo"/>
                <a:sym typeface="Agbalumo"/>
              </a:rPr>
              <a:t> Có rất nhiều nguyên nhân dẫn đến bệnh động kinh, tiêu biểu như:</a:t>
            </a:r>
          </a:p>
          <a:p>
            <a:pPr algn="ctr">
              <a:lnSpc>
                <a:spcPts val="5113"/>
              </a:lnSpc>
            </a:pPr>
          </a:p>
          <a:p>
            <a:pPr algn="ctr">
              <a:lnSpc>
                <a:spcPts val="5113"/>
              </a:lnSpc>
            </a:pPr>
            <a:r>
              <a:rPr lang="en-US" sz="3652">
                <a:solidFill>
                  <a:srgbClr val="8C1A44"/>
                </a:solidFill>
                <a:latin typeface="Agbalumo"/>
                <a:ea typeface="Agbalumo"/>
                <a:cs typeface="Agbalumo"/>
                <a:sym typeface="Agbalumo"/>
              </a:rPr>
              <a:t>Di truyền: Có tiền sử gia đình mắc bệnh.</a:t>
            </a:r>
          </a:p>
          <a:p>
            <a:pPr algn="ctr">
              <a:lnSpc>
                <a:spcPts val="5113"/>
              </a:lnSpc>
            </a:pPr>
          </a:p>
          <a:p>
            <a:pPr algn="ctr">
              <a:lnSpc>
                <a:spcPts val="5113"/>
              </a:lnSpc>
            </a:pPr>
            <a:r>
              <a:rPr lang="en-US" sz="3652">
                <a:solidFill>
                  <a:srgbClr val="8C1A44"/>
                </a:solidFill>
                <a:latin typeface="Agbalumo"/>
                <a:ea typeface="Agbalumo"/>
                <a:cs typeface="Agbalumo"/>
                <a:sym typeface="Agbalumo"/>
              </a:rPr>
              <a:t>Chấn thương não: Tai nạn giao thông, va đập mạnh vào đầu.</a:t>
            </a:r>
          </a:p>
          <a:p>
            <a:pPr algn="ctr">
              <a:lnSpc>
                <a:spcPts val="5113"/>
              </a:lnSpc>
            </a:pPr>
          </a:p>
          <a:p>
            <a:pPr algn="ctr">
              <a:lnSpc>
                <a:spcPts val="5113"/>
              </a:lnSpc>
            </a:pPr>
            <a:r>
              <a:rPr lang="en-US" sz="3652">
                <a:solidFill>
                  <a:srgbClr val="8C1A44"/>
                </a:solidFill>
                <a:latin typeface="Agbalumo"/>
                <a:ea typeface="Agbalumo"/>
                <a:cs typeface="Agbalumo"/>
                <a:sym typeface="Agbalumo"/>
              </a:rPr>
              <a:t>Bệnh lý về não: U não, đột quỵ hoặc viêm màng não.</a:t>
            </a:r>
          </a:p>
          <a:p>
            <a:pPr algn="ctr">
              <a:lnSpc>
                <a:spcPts val="5113"/>
              </a:lnSpc>
            </a:pPr>
          </a:p>
          <a:p>
            <a:pPr algn="ctr">
              <a:lnSpc>
                <a:spcPts val="5113"/>
              </a:lnSpc>
            </a:pPr>
            <a:r>
              <a:rPr lang="en-US" sz="3652">
                <a:solidFill>
                  <a:srgbClr val="8C1A44"/>
                </a:solidFill>
                <a:latin typeface="Agbalumo"/>
                <a:ea typeface="Agbalumo"/>
                <a:cs typeface="Agbalumo"/>
                <a:sym typeface="Agbalumo"/>
              </a:rPr>
              <a:t>Biến chứng khi sinh: Thiếu oxy trong quá trình chào đời.</a:t>
            </a:r>
          </a:p>
          <a:p>
            <a:pPr algn="ctr">
              <a:lnSpc>
                <a:spcPts val="5113"/>
              </a:lnSpc>
            </a:pPr>
          </a:p>
          <a:p>
            <a:pPr algn="ctr" marL="0" indent="0" lvl="0">
              <a:lnSpc>
                <a:spcPts val="5113"/>
              </a:lnSpc>
              <a:spcBef>
                <a:spcPct val="0"/>
              </a:spcBef>
            </a:pPr>
            <a:r>
              <a:rPr lang="en-US" sz="3652">
                <a:solidFill>
                  <a:srgbClr val="8C1A44"/>
                </a:solidFill>
                <a:latin typeface="Agbalumo"/>
                <a:ea typeface="Agbalumo"/>
                <a:cs typeface="Agbalumo"/>
                <a:sym typeface="Agbalumo"/>
              </a:rPr>
              <a:t>Rối loạn phát triển: Chẳng hạn như bệnh tự kỷ.</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4765334" y="6882414"/>
            <a:ext cx="4276025" cy="4732019"/>
          </a:xfrm>
          <a:custGeom>
            <a:avLst/>
            <a:gdLst/>
            <a:ahLst/>
            <a:cxnLst/>
            <a:rect r="r" b="b" t="t" l="l"/>
            <a:pathLst>
              <a:path h="4732019" w="4276025">
                <a:moveTo>
                  <a:pt x="0" y="0"/>
                </a:moveTo>
                <a:lnTo>
                  <a:pt x="4276025" y="0"/>
                </a:lnTo>
                <a:lnTo>
                  <a:pt x="4276025" y="4732020"/>
                </a:lnTo>
                <a:lnTo>
                  <a:pt x="0" y="4732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98975" y="-2446404"/>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84607" y="6265195"/>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926744" y="8633708"/>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653774" y="-169974"/>
            <a:ext cx="2217256" cy="1653292"/>
          </a:xfrm>
          <a:custGeom>
            <a:avLst/>
            <a:gdLst/>
            <a:ahLst/>
            <a:cxnLst/>
            <a:rect r="r" b="b" t="t" l="l"/>
            <a:pathLst>
              <a:path h="1653292" w="2217256">
                <a:moveTo>
                  <a:pt x="0" y="0"/>
                </a:moveTo>
                <a:lnTo>
                  <a:pt x="2217256" y="0"/>
                </a:lnTo>
                <a:lnTo>
                  <a:pt x="2217256" y="1653293"/>
                </a:lnTo>
                <a:lnTo>
                  <a:pt x="0" y="1653293"/>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452197" y="4316854"/>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237663" y="-1423883"/>
            <a:ext cx="5376379" cy="5445688"/>
          </a:xfrm>
          <a:custGeom>
            <a:avLst/>
            <a:gdLst/>
            <a:ahLst/>
            <a:cxnLst/>
            <a:rect r="r" b="b" t="t" l="l"/>
            <a:pathLst>
              <a:path h="5445688" w="5376379">
                <a:moveTo>
                  <a:pt x="0" y="0"/>
                </a:moveTo>
                <a:lnTo>
                  <a:pt x="5376379" y="0"/>
                </a:lnTo>
                <a:lnTo>
                  <a:pt x="5376379" y="5445688"/>
                </a:lnTo>
                <a:lnTo>
                  <a:pt x="0" y="54456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8740947" y="1888068"/>
            <a:ext cx="11107067" cy="5801524"/>
          </a:xfrm>
          <a:custGeom>
            <a:avLst/>
            <a:gdLst/>
            <a:ahLst/>
            <a:cxnLst/>
            <a:rect r="r" b="b" t="t" l="l"/>
            <a:pathLst>
              <a:path h="5801524" w="11107067">
                <a:moveTo>
                  <a:pt x="0" y="0"/>
                </a:moveTo>
                <a:lnTo>
                  <a:pt x="11107068" y="0"/>
                </a:lnTo>
                <a:lnTo>
                  <a:pt x="11107068" y="5801524"/>
                </a:lnTo>
                <a:lnTo>
                  <a:pt x="0" y="5801524"/>
                </a:lnTo>
                <a:lnTo>
                  <a:pt x="0" y="0"/>
                </a:lnTo>
                <a:close/>
              </a:path>
            </a:pathLst>
          </a:custGeom>
          <a:blipFill>
            <a:blip r:embed="rId10"/>
            <a:stretch>
              <a:fillRect l="-2232" t="0" r="-2232" b="0"/>
            </a:stretch>
          </a:blipFill>
        </p:spPr>
      </p:sp>
      <p:sp>
        <p:nvSpPr>
          <p:cNvPr name="TextBox 10" id="10"/>
          <p:cNvSpPr txBox="true"/>
          <p:nvPr/>
        </p:nvSpPr>
        <p:spPr>
          <a:xfrm rot="0">
            <a:off x="906368" y="438078"/>
            <a:ext cx="4248224" cy="972628"/>
          </a:xfrm>
          <a:prstGeom prst="rect">
            <a:avLst/>
          </a:prstGeom>
        </p:spPr>
        <p:txBody>
          <a:bodyPr anchor="t" rtlCol="false" tIns="0" lIns="0" bIns="0" rIns="0">
            <a:spAutoFit/>
          </a:bodyPr>
          <a:lstStyle/>
          <a:p>
            <a:pPr algn="ctr" marL="1223247" indent="-611623" lvl="1">
              <a:lnSpc>
                <a:spcPts val="7932"/>
              </a:lnSpc>
              <a:spcBef>
                <a:spcPct val="0"/>
              </a:spcBef>
              <a:buAutoNum type="arabicPeriod" startAt="1"/>
            </a:pPr>
            <a:r>
              <a:rPr lang="en-US" sz="5665">
                <a:solidFill>
                  <a:srgbClr val="8C1A44"/>
                </a:solidFill>
                <a:latin typeface="Baloo"/>
                <a:ea typeface="Baloo"/>
                <a:cs typeface="Baloo"/>
                <a:sym typeface="Baloo"/>
              </a:rPr>
              <a:t>biểu hiện</a:t>
            </a:r>
          </a:p>
        </p:txBody>
      </p:sp>
      <p:sp>
        <p:nvSpPr>
          <p:cNvPr name="TextBox 11" id="11"/>
          <p:cNvSpPr txBox="true"/>
          <p:nvPr/>
        </p:nvSpPr>
        <p:spPr>
          <a:xfrm rot="0">
            <a:off x="906368" y="1241811"/>
            <a:ext cx="9181296" cy="8161447"/>
          </a:xfrm>
          <a:prstGeom prst="rect">
            <a:avLst/>
          </a:prstGeom>
        </p:spPr>
        <p:txBody>
          <a:bodyPr anchor="t" rtlCol="false" tIns="0" lIns="0" bIns="0" rIns="0">
            <a:spAutoFit/>
          </a:bodyPr>
          <a:lstStyle/>
          <a:p>
            <a:pPr algn="ctr">
              <a:lnSpc>
                <a:spcPts val="4297"/>
              </a:lnSpc>
            </a:pPr>
          </a:p>
          <a:p>
            <a:pPr algn="ctr">
              <a:lnSpc>
                <a:spcPts val="4297"/>
              </a:lnSpc>
            </a:pPr>
            <a:r>
              <a:rPr lang="en-US" sz="3069">
                <a:solidFill>
                  <a:srgbClr val="8C1A44"/>
                </a:solidFill>
                <a:latin typeface="Agbalumo"/>
                <a:ea typeface="Agbalumo"/>
                <a:cs typeface="Agbalumo"/>
                <a:sym typeface="Agbalumo"/>
              </a:rPr>
              <a:t>Không phải cơn động kinh nào cũng là co giật mạnh. Tùy vào vùng não bị ảnh hưởng mà có các biểu hiện:</a:t>
            </a:r>
          </a:p>
          <a:p>
            <a:pPr algn="ctr">
              <a:lnSpc>
                <a:spcPts val="4297"/>
              </a:lnSpc>
            </a:pPr>
          </a:p>
          <a:p>
            <a:pPr algn="ctr">
              <a:lnSpc>
                <a:spcPts val="4297"/>
              </a:lnSpc>
            </a:pPr>
            <a:r>
              <a:rPr lang="en-US" sz="3069">
                <a:solidFill>
                  <a:srgbClr val="8C1A44"/>
                </a:solidFill>
                <a:latin typeface="Agbalumo"/>
                <a:ea typeface="Agbalumo"/>
                <a:cs typeface="Agbalumo"/>
                <a:sym typeface="Agbalumo"/>
              </a:rPr>
              <a:t>Cơn lớn (Co cứng - Co giật): Người bệnh ngã xuống, co cứng cơ, sau đó giật mạnh tay chân, có thể sùi bọt mép.</a:t>
            </a:r>
          </a:p>
          <a:p>
            <a:pPr algn="ctr">
              <a:lnSpc>
                <a:spcPts val="4297"/>
              </a:lnSpc>
            </a:pPr>
          </a:p>
          <a:p>
            <a:pPr algn="ctr">
              <a:lnSpc>
                <a:spcPts val="4297"/>
              </a:lnSpc>
            </a:pPr>
            <a:r>
              <a:rPr lang="en-US" sz="3069">
                <a:solidFill>
                  <a:srgbClr val="8C1A44"/>
                </a:solidFill>
                <a:latin typeface="Agbalumo"/>
                <a:ea typeface="Agbalumo"/>
                <a:cs typeface="Agbalumo"/>
                <a:sym typeface="Agbalumo"/>
              </a:rPr>
              <a:t>Cơn vắng ý thức: Người bệnh bỗng nhiên đứng khựng lại, nhìn trân trân vào khoảng không trong vài giây rồi tỉnh lại như chưa có chuyện gì xảy ra (thường gặp ở trẻ em).</a:t>
            </a:r>
          </a:p>
          <a:p>
            <a:pPr algn="ctr">
              <a:lnSpc>
                <a:spcPts val="4297"/>
              </a:lnSpc>
            </a:pPr>
          </a:p>
          <a:p>
            <a:pPr algn="ctr" marL="0" indent="0" lvl="0">
              <a:lnSpc>
                <a:spcPts val="4297"/>
              </a:lnSpc>
              <a:spcBef>
                <a:spcPct val="0"/>
              </a:spcBef>
            </a:pPr>
            <a:r>
              <a:rPr lang="en-US" sz="3069">
                <a:solidFill>
                  <a:srgbClr val="8C1A44"/>
                </a:solidFill>
                <a:latin typeface="Agbalumo"/>
                <a:ea typeface="Agbalumo"/>
                <a:cs typeface="Agbalumo"/>
                <a:sym typeface="Agbalumo"/>
              </a:rPr>
              <a:t>Cơn cục bộ: Chỉ co giật một vùng cơ thể (như tay, mặt) hoặc có cảm giác lạ về mùi vị, âm thanh.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4765334" y="6882414"/>
            <a:ext cx="4276025" cy="4732019"/>
          </a:xfrm>
          <a:custGeom>
            <a:avLst/>
            <a:gdLst/>
            <a:ahLst/>
            <a:cxnLst/>
            <a:rect r="r" b="b" t="t" l="l"/>
            <a:pathLst>
              <a:path h="4732019" w="4276025">
                <a:moveTo>
                  <a:pt x="0" y="0"/>
                </a:moveTo>
                <a:lnTo>
                  <a:pt x="4276025" y="0"/>
                </a:lnTo>
                <a:lnTo>
                  <a:pt x="4276025" y="4732020"/>
                </a:lnTo>
                <a:lnTo>
                  <a:pt x="0" y="4732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98975" y="-2446404"/>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84607" y="6265195"/>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926744" y="8633708"/>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653774" y="-169974"/>
            <a:ext cx="2217256" cy="1653292"/>
          </a:xfrm>
          <a:custGeom>
            <a:avLst/>
            <a:gdLst/>
            <a:ahLst/>
            <a:cxnLst/>
            <a:rect r="r" b="b" t="t" l="l"/>
            <a:pathLst>
              <a:path h="1653292" w="2217256">
                <a:moveTo>
                  <a:pt x="0" y="0"/>
                </a:moveTo>
                <a:lnTo>
                  <a:pt x="2217256" y="0"/>
                </a:lnTo>
                <a:lnTo>
                  <a:pt x="2217256" y="1653293"/>
                </a:lnTo>
                <a:lnTo>
                  <a:pt x="0" y="1653293"/>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452197" y="4316854"/>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237663" y="-1423883"/>
            <a:ext cx="5376379" cy="5445688"/>
          </a:xfrm>
          <a:custGeom>
            <a:avLst/>
            <a:gdLst/>
            <a:ahLst/>
            <a:cxnLst/>
            <a:rect r="r" b="b" t="t" l="l"/>
            <a:pathLst>
              <a:path h="5445688" w="5376379">
                <a:moveTo>
                  <a:pt x="0" y="0"/>
                </a:moveTo>
                <a:lnTo>
                  <a:pt x="5376379" y="0"/>
                </a:lnTo>
                <a:lnTo>
                  <a:pt x="5376379" y="5445688"/>
                </a:lnTo>
                <a:lnTo>
                  <a:pt x="0" y="54456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124907" y="0"/>
            <a:ext cx="8544545" cy="9084862"/>
          </a:xfrm>
          <a:custGeom>
            <a:avLst/>
            <a:gdLst/>
            <a:ahLst/>
            <a:cxnLst/>
            <a:rect r="r" b="b" t="t" l="l"/>
            <a:pathLst>
              <a:path h="9084862" w="8544545">
                <a:moveTo>
                  <a:pt x="0" y="0"/>
                </a:moveTo>
                <a:lnTo>
                  <a:pt x="8544546" y="0"/>
                </a:lnTo>
                <a:lnTo>
                  <a:pt x="8544546" y="9084862"/>
                </a:lnTo>
                <a:lnTo>
                  <a:pt x="0" y="9084862"/>
                </a:lnTo>
                <a:lnTo>
                  <a:pt x="0" y="0"/>
                </a:lnTo>
                <a:close/>
              </a:path>
            </a:pathLst>
          </a:custGeom>
          <a:blipFill>
            <a:blip r:embed="rId10"/>
            <a:stretch>
              <a:fillRect l="0" t="0" r="0" b="0"/>
            </a:stretch>
          </a:blipFill>
        </p:spPr>
      </p:sp>
      <p:sp>
        <p:nvSpPr>
          <p:cNvPr name="TextBox 10" id="10"/>
          <p:cNvSpPr txBox="true"/>
          <p:nvPr/>
        </p:nvSpPr>
        <p:spPr>
          <a:xfrm rot="0">
            <a:off x="877243" y="254970"/>
            <a:ext cx="9625011" cy="9113301"/>
          </a:xfrm>
          <a:prstGeom prst="rect">
            <a:avLst/>
          </a:prstGeom>
        </p:spPr>
        <p:txBody>
          <a:bodyPr anchor="t" rtlCol="false" tIns="0" lIns="0" bIns="0" rIns="0">
            <a:spAutoFit/>
          </a:bodyPr>
          <a:lstStyle/>
          <a:p>
            <a:pPr algn="ctr">
              <a:lnSpc>
                <a:spcPts val="4832"/>
              </a:lnSpc>
            </a:pPr>
          </a:p>
          <a:p>
            <a:pPr algn="ctr">
              <a:lnSpc>
                <a:spcPts val="4832"/>
              </a:lnSpc>
            </a:pPr>
          </a:p>
          <a:p>
            <a:pPr algn="ctr">
              <a:lnSpc>
                <a:spcPts val="4832"/>
              </a:lnSpc>
            </a:pPr>
            <a:r>
              <a:rPr lang="en-US" sz="3451">
                <a:solidFill>
                  <a:srgbClr val="8C1A44"/>
                </a:solidFill>
                <a:latin typeface="Agbalumo"/>
                <a:ea typeface="Agbalumo"/>
                <a:cs typeface="Agbalumo"/>
                <a:sym typeface="Agbalumo"/>
              </a:rPr>
              <a:t>Những việc NÊN làm:</a:t>
            </a:r>
          </a:p>
          <a:p>
            <a:pPr algn="ctr">
              <a:lnSpc>
                <a:spcPts val="4832"/>
              </a:lnSpc>
            </a:pPr>
            <a:r>
              <a:rPr lang="en-US" sz="3451">
                <a:solidFill>
                  <a:srgbClr val="8C1A44"/>
                </a:solidFill>
                <a:latin typeface="Agbalumo"/>
                <a:ea typeface="Agbalumo"/>
                <a:cs typeface="Agbalumo"/>
                <a:sym typeface="Agbalumo"/>
              </a:rPr>
              <a:t>Chống ngã: Đỡ nhẹ nhàng để người bệnh không bị ngã chấn thương.</a:t>
            </a:r>
          </a:p>
          <a:p>
            <a:pPr algn="ctr">
              <a:lnSpc>
                <a:spcPts val="4832"/>
              </a:lnSpc>
            </a:pPr>
          </a:p>
          <a:p>
            <a:pPr algn="ctr">
              <a:lnSpc>
                <a:spcPts val="4832"/>
              </a:lnSpc>
            </a:pPr>
            <a:r>
              <a:rPr lang="en-US" sz="3451">
                <a:solidFill>
                  <a:srgbClr val="8C1A44"/>
                </a:solidFill>
                <a:latin typeface="Agbalumo"/>
                <a:ea typeface="Agbalumo"/>
                <a:cs typeface="Agbalumo"/>
                <a:sym typeface="Agbalumo"/>
              </a:rPr>
              <a:t>Kê đầu: Đặt vật mềm (áo, gối) dưới đầu họ.</a:t>
            </a:r>
          </a:p>
          <a:p>
            <a:pPr algn="ctr">
              <a:lnSpc>
                <a:spcPts val="4832"/>
              </a:lnSpc>
            </a:pPr>
          </a:p>
          <a:p>
            <a:pPr algn="ctr">
              <a:lnSpc>
                <a:spcPts val="4832"/>
              </a:lnSpc>
            </a:pPr>
            <a:r>
              <a:rPr lang="en-US" sz="3451">
                <a:solidFill>
                  <a:srgbClr val="8C1A44"/>
                </a:solidFill>
                <a:latin typeface="Agbalumo"/>
                <a:ea typeface="Agbalumo"/>
                <a:cs typeface="Agbalumo"/>
                <a:sym typeface="Agbalumo"/>
              </a:rPr>
              <a:t>Nằm nghiêng: Khi cơn co giật giảm, hãy lật nhẹ người bệnh nằm nghiêng để đờm dãi chảy ra ngoài, giúp họ dễ thở và không bị sặc.</a:t>
            </a:r>
          </a:p>
          <a:p>
            <a:pPr algn="ctr">
              <a:lnSpc>
                <a:spcPts val="4832"/>
              </a:lnSpc>
            </a:pPr>
          </a:p>
          <a:p>
            <a:pPr algn="ctr">
              <a:lnSpc>
                <a:spcPts val="4832"/>
              </a:lnSpc>
            </a:pPr>
            <a:r>
              <a:rPr lang="en-US" sz="3451">
                <a:solidFill>
                  <a:srgbClr val="8C1A44"/>
                </a:solidFill>
                <a:latin typeface="Agbalumo"/>
                <a:ea typeface="Agbalumo"/>
                <a:cs typeface="Agbalumo"/>
                <a:sym typeface="Agbalumo"/>
              </a:rPr>
              <a:t>Nới lỏng quần áo: Đặc biệt là vùng cổ.</a:t>
            </a:r>
          </a:p>
          <a:p>
            <a:pPr algn="ctr">
              <a:lnSpc>
                <a:spcPts val="4832"/>
              </a:lnSpc>
            </a:pPr>
          </a:p>
          <a:p>
            <a:pPr algn="ctr" marL="0" indent="0" lvl="0">
              <a:lnSpc>
                <a:spcPts val="4832"/>
              </a:lnSpc>
              <a:spcBef>
                <a:spcPct val="0"/>
              </a:spcBef>
            </a:pPr>
            <a:r>
              <a:rPr lang="en-US" sz="3451">
                <a:solidFill>
                  <a:srgbClr val="8C1A44"/>
                </a:solidFill>
                <a:latin typeface="Agbalumo"/>
                <a:ea typeface="Agbalumo"/>
                <a:cs typeface="Agbalumo"/>
                <a:sym typeface="Agbalumo"/>
              </a:rPr>
              <a:t>Ở lại bên cạnh: Chờ cho đến khi họ tỉnh hẳn.</a:t>
            </a:r>
          </a:p>
        </p:txBody>
      </p:sp>
      <p:sp>
        <p:nvSpPr>
          <p:cNvPr name="TextBox 11" id="11"/>
          <p:cNvSpPr txBox="true"/>
          <p:nvPr/>
        </p:nvSpPr>
        <p:spPr>
          <a:xfrm rot="0">
            <a:off x="877243" y="339049"/>
            <a:ext cx="6240512" cy="1144270"/>
          </a:xfrm>
          <a:prstGeom prst="rect">
            <a:avLst/>
          </a:prstGeom>
        </p:spPr>
        <p:txBody>
          <a:bodyPr anchor="t" rtlCol="false" tIns="0" lIns="0" bIns="0" rIns="0">
            <a:spAutoFit/>
          </a:bodyPr>
          <a:lstStyle/>
          <a:p>
            <a:pPr algn="ctr" marL="1446529" indent="-723265" lvl="1">
              <a:lnSpc>
                <a:spcPts val="9379"/>
              </a:lnSpc>
              <a:spcBef>
                <a:spcPct val="0"/>
              </a:spcBef>
              <a:buAutoNum type="arabicPeriod" startAt="1"/>
            </a:pPr>
            <a:r>
              <a:rPr lang="en-US" sz="6699">
                <a:solidFill>
                  <a:srgbClr val="8C1A44"/>
                </a:solidFill>
                <a:latin typeface="Baloo"/>
                <a:ea typeface="Baloo"/>
                <a:cs typeface="Baloo"/>
                <a:sym typeface="Baloo"/>
              </a:rPr>
              <a:t>cách sơ cứu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4765334" y="6882414"/>
            <a:ext cx="4276025" cy="4732019"/>
          </a:xfrm>
          <a:custGeom>
            <a:avLst/>
            <a:gdLst/>
            <a:ahLst/>
            <a:cxnLst/>
            <a:rect r="r" b="b" t="t" l="l"/>
            <a:pathLst>
              <a:path h="4732019" w="4276025">
                <a:moveTo>
                  <a:pt x="0" y="0"/>
                </a:moveTo>
                <a:lnTo>
                  <a:pt x="4276025" y="0"/>
                </a:lnTo>
                <a:lnTo>
                  <a:pt x="4276025" y="4732020"/>
                </a:lnTo>
                <a:lnTo>
                  <a:pt x="0" y="4732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98975" y="-2446404"/>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84607" y="6265195"/>
            <a:ext cx="6923700" cy="6206153"/>
          </a:xfrm>
          <a:custGeom>
            <a:avLst/>
            <a:gdLst/>
            <a:ahLst/>
            <a:cxnLst/>
            <a:rect r="r" b="b" t="t" l="l"/>
            <a:pathLst>
              <a:path h="6206153" w="6923700">
                <a:moveTo>
                  <a:pt x="0" y="0"/>
                </a:moveTo>
                <a:lnTo>
                  <a:pt x="6923700" y="0"/>
                </a:lnTo>
                <a:lnTo>
                  <a:pt x="6923700" y="6206153"/>
                </a:lnTo>
                <a:lnTo>
                  <a:pt x="0" y="6206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926744" y="8633708"/>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653774" y="-169974"/>
            <a:ext cx="2217256" cy="1653292"/>
          </a:xfrm>
          <a:custGeom>
            <a:avLst/>
            <a:gdLst/>
            <a:ahLst/>
            <a:cxnLst/>
            <a:rect r="r" b="b" t="t" l="l"/>
            <a:pathLst>
              <a:path h="1653292" w="2217256">
                <a:moveTo>
                  <a:pt x="0" y="0"/>
                </a:moveTo>
                <a:lnTo>
                  <a:pt x="2217256" y="0"/>
                </a:lnTo>
                <a:lnTo>
                  <a:pt x="2217256" y="1653293"/>
                </a:lnTo>
                <a:lnTo>
                  <a:pt x="0" y="1653293"/>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452197" y="4316854"/>
            <a:ext cx="2217256" cy="1653292"/>
          </a:xfrm>
          <a:custGeom>
            <a:avLst/>
            <a:gdLst/>
            <a:ahLst/>
            <a:cxnLst/>
            <a:rect r="r" b="b" t="t" l="l"/>
            <a:pathLst>
              <a:path h="1653292" w="2217256">
                <a:moveTo>
                  <a:pt x="0" y="0"/>
                </a:moveTo>
                <a:lnTo>
                  <a:pt x="2217256" y="0"/>
                </a:lnTo>
                <a:lnTo>
                  <a:pt x="2217256" y="1653292"/>
                </a:lnTo>
                <a:lnTo>
                  <a:pt x="0" y="1653292"/>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237663" y="-1423883"/>
            <a:ext cx="5376379" cy="5445688"/>
          </a:xfrm>
          <a:custGeom>
            <a:avLst/>
            <a:gdLst/>
            <a:ahLst/>
            <a:cxnLst/>
            <a:rect r="r" b="b" t="t" l="l"/>
            <a:pathLst>
              <a:path h="5445688" w="5376379">
                <a:moveTo>
                  <a:pt x="0" y="0"/>
                </a:moveTo>
                <a:lnTo>
                  <a:pt x="5376379" y="0"/>
                </a:lnTo>
                <a:lnTo>
                  <a:pt x="5376379" y="5445688"/>
                </a:lnTo>
                <a:lnTo>
                  <a:pt x="0" y="54456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1559303" y="3702619"/>
            <a:ext cx="14223801" cy="2344052"/>
          </a:xfrm>
          <a:prstGeom prst="rect">
            <a:avLst/>
          </a:prstGeom>
        </p:spPr>
        <p:txBody>
          <a:bodyPr anchor="t" rtlCol="false" tIns="0" lIns="0" bIns="0" rIns="0">
            <a:spAutoFit/>
          </a:bodyPr>
          <a:lstStyle/>
          <a:p>
            <a:pPr algn="ctr">
              <a:lnSpc>
                <a:spcPts val="17426"/>
              </a:lnSpc>
            </a:pPr>
            <a:r>
              <a:rPr lang="en-US" sz="17965">
                <a:solidFill>
                  <a:srgbClr val="8C1A44"/>
                </a:solidFill>
                <a:latin typeface="Coiny"/>
                <a:ea typeface="Coiny"/>
                <a:cs typeface="Coiny"/>
                <a:sym typeface="Coiny"/>
              </a:rPr>
              <a:t>Thank You</a:t>
            </a:r>
          </a:p>
        </p:txBody>
      </p:sp>
      <p:sp>
        <p:nvSpPr>
          <p:cNvPr name="Freeform 3" id="3"/>
          <p:cNvSpPr/>
          <p:nvPr/>
        </p:nvSpPr>
        <p:spPr>
          <a:xfrm flipH="false" flipV="false" rot="0">
            <a:off x="-956980" y="6812692"/>
            <a:ext cx="5686281" cy="4114800"/>
          </a:xfrm>
          <a:custGeom>
            <a:avLst/>
            <a:gdLst/>
            <a:ahLst/>
            <a:cxnLst/>
            <a:rect r="r" b="b" t="t" l="l"/>
            <a:pathLst>
              <a:path h="4114800" w="5686281">
                <a:moveTo>
                  <a:pt x="0" y="0"/>
                </a:moveTo>
                <a:lnTo>
                  <a:pt x="5686281" y="0"/>
                </a:lnTo>
                <a:lnTo>
                  <a:pt x="568628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0147" y="-485952"/>
            <a:ext cx="5955836" cy="5165334"/>
          </a:xfrm>
          <a:custGeom>
            <a:avLst/>
            <a:gdLst/>
            <a:ahLst/>
            <a:cxnLst/>
            <a:rect r="r" b="b" t="t" l="l"/>
            <a:pathLst>
              <a:path h="5165334" w="5955836">
                <a:moveTo>
                  <a:pt x="0" y="0"/>
                </a:moveTo>
                <a:lnTo>
                  <a:pt x="5955836" y="0"/>
                </a:lnTo>
                <a:lnTo>
                  <a:pt x="5955836" y="5165334"/>
                </a:lnTo>
                <a:lnTo>
                  <a:pt x="0" y="51653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613105" y="5795211"/>
            <a:ext cx="8001000" cy="7200900"/>
          </a:xfrm>
          <a:custGeom>
            <a:avLst/>
            <a:gdLst/>
            <a:ahLst/>
            <a:cxnLst/>
            <a:rect r="r" b="b" t="t" l="l"/>
            <a:pathLst>
              <a:path h="7200900" w="8001000">
                <a:moveTo>
                  <a:pt x="0" y="0"/>
                </a:moveTo>
                <a:lnTo>
                  <a:pt x="8001000" y="0"/>
                </a:lnTo>
                <a:lnTo>
                  <a:pt x="8001000" y="7200900"/>
                </a:lnTo>
                <a:lnTo>
                  <a:pt x="0" y="72009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352247" y="-2018085"/>
            <a:ext cx="3718283" cy="4114800"/>
          </a:xfrm>
          <a:custGeom>
            <a:avLst/>
            <a:gdLst/>
            <a:ahLst/>
            <a:cxnLst/>
            <a:rect r="r" b="b" t="t" l="l"/>
            <a:pathLst>
              <a:path h="4114800" w="3718283">
                <a:moveTo>
                  <a:pt x="0" y="0"/>
                </a:moveTo>
                <a:lnTo>
                  <a:pt x="3718283" y="0"/>
                </a:lnTo>
                <a:lnTo>
                  <a:pt x="3718283" y="4114800"/>
                </a:lnTo>
                <a:lnTo>
                  <a:pt x="0" y="4114800"/>
                </a:lnTo>
                <a:lnTo>
                  <a:pt x="0" y="0"/>
                </a:lnTo>
                <a:close/>
              </a:path>
            </a:pathLst>
          </a:custGeom>
          <a:blipFill>
            <a:blip r:embed="rId8">
              <a:alphaModFix amt="43999"/>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812062" y="8465767"/>
            <a:ext cx="3718283" cy="4114800"/>
          </a:xfrm>
          <a:custGeom>
            <a:avLst/>
            <a:gdLst/>
            <a:ahLst/>
            <a:cxnLst/>
            <a:rect r="r" b="b" t="t" l="l"/>
            <a:pathLst>
              <a:path h="4114800" w="3718283">
                <a:moveTo>
                  <a:pt x="0" y="0"/>
                </a:moveTo>
                <a:lnTo>
                  <a:pt x="3718283" y="0"/>
                </a:lnTo>
                <a:lnTo>
                  <a:pt x="3718283" y="4114800"/>
                </a:lnTo>
                <a:lnTo>
                  <a:pt x="0" y="4114800"/>
                </a:lnTo>
                <a:lnTo>
                  <a:pt x="0" y="0"/>
                </a:lnTo>
                <a:close/>
              </a:path>
            </a:pathLst>
          </a:custGeom>
          <a:blipFill>
            <a:blip r:embed="rId8">
              <a:alphaModFix amt="43999"/>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224664" y="-3086100"/>
            <a:ext cx="6062472" cy="8229600"/>
          </a:xfrm>
          <a:custGeom>
            <a:avLst/>
            <a:gdLst/>
            <a:ahLst/>
            <a:cxnLst/>
            <a:rect r="r" b="b" t="t" l="l"/>
            <a:pathLst>
              <a:path h="8229600" w="6062472">
                <a:moveTo>
                  <a:pt x="0" y="0"/>
                </a:moveTo>
                <a:lnTo>
                  <a:pt x="6062472" y="0"/>
                </a:lnTo>
                <a:lnTo>
                  <a:pt x="6062472" y="8229600"/>
                </a:lnTo>
                <a:lnTo>
                  <a:pt x="0" y="8229600"/>
                </a:lnTo>
                <a:lnTo>
                  <a:pt x="0" y="0"/>
                </a:lnTo>
                <a:close/>
              </a:path>
            </a:pathLst>
          </a:custGeom>
          <a:blipFill>
            <a:blip r:embed="rId10"/>
            <a:stretch>
              <a:fillRect l="0" t="0" r="0" b="0"/>
            </a:stretch>
          </a:blipFill>
        </p:spPr>
      </p:sp>
      <p:sp>
        <p:nvSpPr>
          <p:cNvPr name="TextBox 9" id="9"/>
          <p:cNvSpPr txBox="true"/>
          <p:nvPr/>
        </p:nvSpPr>
        <p:spPr>
          <a:xfrm rot="0">
            <a:off x="4966910" y="6153150"/>
            <a:ext cx="8354179" cy="3036100"/>
          </a:xfrm>
          <a:prstGeom prst="rect">
            <a:avLst/>
          </a:prstGeom>
        </p:spPr>
        <p:txBody>
          <a:bodyPr anchor="t" rtlCol="false" tIns="0" lIns="0" bIns="0" rIns="0">
            <a:spAutoFit/>
          </a:bodyPr>
          <a:lstStyle/>
          <a:p>
            <a:pPr algn="ctr">
              <a:lnSpc>
                <a:spcPts val="10646"/>
              </a:lnSpc>
            </a:pPr>
            <a:r>
              <a:rPr lang="en-US" sz="17744">
                <a:solidFill>
                  <a:srgbClr val="8C1A44"/>
                </a:solidFill>
                <a:latin typeface="Moontime"/>
                <a:ea typeface="Moontime"/>
                <a:cs typeface="Moontime"/>
                <a:sym typeface="Moontime"/>
              </a:rPr>
              <a:t>for watching</a:t>
            </a:r>
          </a:p>
          <a:p>
            <a:pPr algn="ctr">
              <a:lnSpc>
                <a:spcPts val="10646"/>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DAG_bs5ahUs</dc:identifier>
  <dcterms:modified xsi:type="dcterms:W3CDTF">2011-08-01T06:04:30Z</dcterms:modified>
  <cp:revision>1</cp:revision>
  <dc:title>Thêm tiêu đề</dc:title>
</cp:coreProperties>
</file>