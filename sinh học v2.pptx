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gbalumo" charset="0"/>
      <p:regular r:id="rId10"/>
    </p:embeddedFont>
    <p:embeddedFont>
      <p:font typeface="Bungee" charset="0"/>
      <p:regular r:id="rId11"/>
    </p:embeddedFont>
    <p:embeddedFont>
      <p:font typeface="Coiny" charset="0"/>
      <p:regular r:id="rId12"/>
    </p:embeddedFont>
    <p:embeddedFont>
      <p:font typeface="Calibri" pitchFamily="34" charset="0"/>
      <p:regular r:id="rId13"/>
      <p:bold r:id="rId14"/>
      <p:italic r:id="rId15"/>
      <p:boldItalic r:id="rId16"/>
    </p:embeddedFont>
    <p:embeddedFont>
      <p:font typeface="Atma Bold" charset="0"/>
      <p:regular r:id="rId17"/>
    </p:embeddedFont>
    <p:embeddedFont>
      <p:font typeface="Baloo" charset="0"/>
      <p:regular r:id="rId18"/>
    </p:embeddedFont>
    <p:embeddedFont>
      <p:font typeface="Sigmar One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9" d="100"/>
          <a:sy n="39" d="100"/>
        </p:scale>
        <p:origin x="-432" y="-1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8.svg"/><Relationship Id="rId7" Type="http://schemas.openxmlformats.org/officeDocument/2006/relationships/image" Target="../media/image1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svg"/><Relationship Id="rId4" Type="http://schemas.openxmlformats.org/officeDocument/2006/relationships/image" Target="../media/image6.png"/><Relationship Id="rId9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8.svg"/><Relationship Id="rId7" Type="http://schemas.openxmlformats.org/officeDocument/2006/relationships/image" Target="../media/image13.svg"/><Relationship Id="rId12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5" Type="http://schemas.openxmlformats.org/officeDocument/2006/relationships/image" Target="../media/image11.svg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8.svg"/><Relationship Id="rId7" Type="http://schemas.openxmlformats.org/officeDocument/2006/relationships/image" Target="../media/image1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3.jpeg"/><Relationship Id="rId5" Type="http://schemas.openxmlformats.org/officeDocument/2006/relationships/image" Target="../media/image11.svg"/><Relationship Id="rId10" Type="http://schemas.openxmlformats.org/officeDocument/2006/relationships/image" Target="../media/image12.gif"/><Relationship Id="rId4" Type="http://schemas.openxmlformats.org/officeDocument/2006/relationships/image" Target="../media/image6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8.svg"/><Relationship Id="rId7" Type="http://schemas.openxmlformats.org/officeDocument/2006/relationships/image" Target="../media/image1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svg"/><Relationship Id="rId10" Type="http://schemas.openxmlformats.org/officeDocument/2006/relationships/image" Target="../media/image14.jpeg"/><Relationship Id="rId4" Type="http://schemas.openxmlformats.org/officeDocument/2006/relationships/image" Target="../media/image6.png"/><Relationship Id="rId9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8.svg"/><Relationship Id="rId7" Type="http://schemas.openxmlformats.org/officeDocument/2006/relationships/image" Target="../media/image1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svg"/><Relationship Id="rId10" Type="http://schemas.openxmlformats.org/officeDocument/2006/relationships/image" Target="../media/image15.jpeg"/><Relationship Id="rId4" Type="http://schemas.openxmlformats.org/officeDocument/2006/relationships/image" Target="../media/image6.png"/><Relationship Id="rId9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8.svg"/><Relationship Id="rId7" Type="http://schemas.openxmlformats.org/officeDocument/2006/relationships/image" Target="../media/image1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svg"/><Relationship Id="rId4" Type="http://schemas.openxmlformats.org/officeDocument/2006/relationships/image" Target="../media/image6.png"/><Relationship Id="rId9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49738" y="2475107"/>
            <a:ext cx="11988525" cy="384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50"/>
              </a:lnSpc>
            </a:pPr>
            <a:r>
              <a:rPr lang="en-US" sz="15207" dirty="0" err="1">
                <a:solidFill>
                  <a:srgbClr val="8C1A44"/>
                </a:solidFill>
                <a:latin typeface="Coiny"/>
                <a:ea typeface="Coiny"/>
                <a:cs typeface="Coiny"/>
                <a:sym typeface="Coiny"/>
              </a:rPr>
              <a:t>Bệnh</a:t>
            </a:r>
            <a:r>
              <a:rPr lang="en-US" sz="15207" dirty="0">
                <a:solidFill>
                  <a:srgbClr val="8C1A44"/>
                </a:solidFill>
                <a:latin typeface="Coiny"/>
                <a:ea typeface="Coiny"/>
                <a:cs typeface="Coiny"/>
                <a:sym typeface="Coiny"/>
              </a:rPr>
              <a:t> </a:t>
            </a:r>
            <a:r>
              <a:rPr lang="en-US" sz="15207" dirty="0" err="1">
                <a:solidFill>
                  <a:srgbClr val="8C1A44"/>
                </a:solidFill>
                <a:latin typeface="Coiny"/>
                <a:ea typeface="Coiny"/>
                <a:cs typeface="Coiny"/>
                <a:sym typeface="Coiny"/>
              </a:rPr>
              <a:t>động</a:t>
            </a:r>
            <a:r>
              <a:rPr lang="en-US" sz="15207" dirty="0">
                <a:solidFill>
                  <a:srgbClr val="8C1A44"/>
                </a:solidFill>
                <a:latin typeface="Coiny"/>
                <a:ea typeface="Coiny"/>
                <a:cs typeface="Coiny"/>
                <a:sym typeface="Coiny"/>
              </a:rPr>
              <a:t> </a:t>
            </a:r>
            <a:r>
              <a:rPr lang="en-US" sz="15207" dirty="0" err="1">
                <a:solidFill>
                  <a:srgbClr val="8C1A44"/>
                </a:solidFill>
                <a:latin typeface="Coiny"/>
                <a:ea typeface="Coiny"/>
                <a:cs typeface="Coiny"/>
                <a:sym typeface="Coiny"/>
              </a:rPr>
              <a:t>kinh</a:t>
            </a:r>
            <a:r>
              <a:rPr lang="en-US" sz="15207" dirty="0">
                <a:solidFill>
                  <a:srgbClr val="8C1A44"/>
                </a:solidFill>
                <a:latin typeface="Coiny"/>
                <a:ea typeface="Coiny"/>
                <a:cs typeface="Coiny"/>
                <a:sym typeface="Coiny"/>
              </a:rPr>
              <a:t>  </a:t>
            </a:r>
          </a:p>
        </p:txBody>
      </p:sp>
      <p:sp>
        <p:nvSpPr>
          <p:cNvPr id="3" name="Freeform 3"/>
          <p:cNvSpPr/>
          <p:nvPr/>
        </p:nvSpPr>
        <p:spPr>
          <a:xfrm>
            <a:off x="233501" y="5725924"/>
            <a:ext cx="5686281" cy="4114800"/>
          </a:xfrm>
          <a:custGeom>
            <a:avLst/>
            <a:gdLst/>
            <a:ahLst/>
            <a:cxnLst/>
            <a:rect l="l" t="t" r="r" b="b"/>
            <a:pathLst>
              <a:path w="5686281" h="4114800">
                <a:moveTo>
                  <a:pt x="0" y="0"/>
                </a:moveTo>
                <a:lnTo>
                  <a:pt x="5686281" y="0"/>
                </a:lnTo>
                <a:lnTo>
                  <a:pt x="56862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33501" y="22986"/>
            <a:ext cx="4495800" cy="2582667"/>
          </a:xfrm>
          <a:custGeom>
            <a:avLst/>
            <a:gdLst/>
            <a:ahLst/>
            <a:cxnLst/>
            <a:rect l="l" t="t" r="r" b="b"/>
            <a:pathLst>
              <a:path w="5955836" h="5165334">
                <a:moveTo>
                  <a:pt x="0" y="0"/>
                </a:moveTo>
                <a:lnTo>
                  <a:pt x="5955836" y="0"/>
                </a:lnTo>
                <a:lnTo>
                  <a:pt x="5955836" y="5165334"/>
                </a:lnTo>
                <a:lnTo>
                  <a:pt x="0" y="5165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730414" y="6442763"/>
            <a:ext cx="4386336" cy="3833664"/>
          </a:xfrm>
          <a:custGeom>
            <a:avLst/>
            <a:gdLst/>
            <a:ahLst/>
            <a:cxnLst/>
            <a:rect l="l" t="t" r="r" b="b"/>
            <a:pathLst>
              <a:path w="7011272" h="6310145">
                <a:moveTo>
                  <a:pt x="0" y="0"/>
                </a:moveTo>
                <a:lnTo>
                  <a:pt x="7011272" y="0"/>
                </a:lnTo>
                <a:lnTo>
                  <a:pt x="7011272" y="6310145"/>
                </a:lnTo>
                <a:lnTo>
                  <a:pt x="0" y="63101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620000" y="5720462"/>
            <a:ext cx="3718283" cy="4114800"/>
          </a:xfrm>
          <a:custGeom>
            <a:avLst/>
            <a:gdLst/>
            <a:ahLst/>
            <a:cxnLst/>
            <a:rect l="l" t="t" r="r" b="b"/>
            <a:pathLst>
              <a:path w="3718283" h="4114800">
                <a:moveTo>
                  <a:pt x="0" y="0"/>
                </a:moveTo>
                <a:lnTo>
                  <a:pt x="3718283" y="0"/>
                </a:lnTo>
                <a:lnTo>
                  <a:pt x="3718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3999"/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22259" y="2338849"/>
            <a:ext cx="3718283" cy="4114800"/>
          </a:xfrm>
          <a:custGeom>
            <a:avLst/>
            <a:gdLst/>
            <a:ahLst/>
            <a:cxnLst/>
            <a:rect l="l" t="t" r="r" b="b"/>
            <a:pathLst>
              <a:path w="3718283" h="4114800">
                <a:moveTo>
                  <a:pt x="0" y="0"/>
                </a:moveTo>
                <a:lnTo>
                  <a:pt x="3718283" y="0"/>
                </a:lnTo>
                <a:lnTo>
                  <a:pt x="3718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3999"/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237538" y="266700"/>
            <a:ext cx="3846555" cy="5105400"/>
          </a:xfrm>
          <a:custGeom>
            <a:avLst/>
            <a:gdLst/>
            <a:ahLst/>
            <a:cxnLst/>
            <a:rect l="l" t="t" r="r" b="b"/>
            <a:pathLst>
              <a:path w="6062472" h="8229600">
                <a:moveTo>
                  <a:pt x="0" y="0"/>
                </a:moveTo>
                <a:lnTo>
                  <a:pt x="6062472" y="0"/>
                </a:lnTo>
                <a:lnTo>
                  <a:pt x="606247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1090237" y="6355752"/>
            <a:ext cx="20603251" cy="828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6"/>
              </a:lnSpc>
            </a:pPr>
            <a:r>
              <a:rPr lang="en-US" sz="4911" b="1" spc="54" dirty="0" err="1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khái</a:t>
            </a:r>
            <a:r>
              <a:rPr lang="en-US" sz="4911" b="1" spc="54" dirty="0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 </a:t>
            </a:r>
            <a:r>
              <a:rPr lang="en-US" sz="4911" b="1" spc="54" dirty="0" err="1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niệm</a:t>
            </a:r>
            <a:r>
              <a:rPr lang="en-US" sz="4911" b="1" spc="54" dirty="0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 - </a:t>
            </a:r>
            <a:r>
              <a:rPr lang="en-US" sz="4911" b="1" spc="54" dirty="0" err="1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nguyên</a:t>
            </a:r>
            <a:r>
              <a:rPr lang="en-US" sz="4911" b="1" spc="54" dirty="0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 </a:t>
            </a:r>
            <a:r>
              <a:rPr lang="en-US" sz="4911" b="1" spc="54" dirty="0" err="1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nhân</a:t>
            </a:r>
            <a:r>
              <a:rPr lang="en-US" sz="4911" b="1" spc="54" dirty="0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 - </a:t>
            </a:r>
            <a:r>
              <a:rPr lang="en-US" sz="4911" b="1" spc="54" dirty="0" err="1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biểu</a:t>
            </a:r>
            <a:r>
              <a:rPr lang="en-US" sz="4911" b="1" spc="54" dirty="0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 </a:t>
            </a:r>
            <a:r>
              <a:rPr lang="en-US" sz="4911" b="1" spc="54" dirty="0" err="1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hiện</a:t>
            </a:r>
            <a:r>
              <a:rPr lang="en-US" sz="4911" b="1" spc="54" dirty="0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 - </a:t>
            </a:r>
            <a:r>
              <a:rPr lang="en-US" sz="4911" b="1" spc="54" dirty="0" err="1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cách</a:t>
            </a:r>
            <a:r>
              <a:rPr lang="en-US" sz="4911" b="1" spc="54" dirty="0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 </a:t>
            </a:r>
            <a:r>
              <a:rPr lang="en-US" sz="4911" b="1" spc="54" dirty="0" err="1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sơ</a:t>
            </a:r>
            <a:r>
              <a:rPr lang="en-US" sz="4911" b="1" spc="54" dirty="0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 </a:t>
            </a:r>
            <a:r>
              <a:rPr lang="en-US" sz="4911" b="1" spc="54" dirty="0" err="1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cứu</a:t>
            </a:r>
            <a:r>
              <a:rPr lang="en-US" sz="4911" b="1" spc="54" dirty="0">
                <a:solidFill>
                  <a:srgbClr val="8C1A44"/>
                </a:solidFill>
                <a:latin typeface="Atma Bold"/>
                <a:ea typeface="Atma Bold"/>
                <a:cs typeface="Atma Bold"/>
                <a:sym typeface="Atma Bold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38207" y="5565867"/>
            <a:ext cx="4276025" cy="4732019"/>
          </a:xfrm>
          <a:custGeom>
            <a:avLst/>
            <a:gdLst/>
            <a:ahLst/>
            <a:cxnLst/>
            <a:rect l="l" t="t" r="r" b="b"/>
            <a:pathLst>
              <a:path w="4276025" h="4732019">
                <a:moveTo>
                  <a:pt x="0" y="0"/>
                </a:moveTo>
                <a:lnTo>
                  <a:pt x="4276025" y="0"/>
                </a:lnTo>
                <a:lnTo>
                  <a:pt x="4276025" y="4732020"/>
                </a:lnTo>
                <a:lnTo>
                  <a:pt x="0" y="4732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86715" y="3171008"/>
            <a:ext cx="5062885" cy="3922538"/>
          </a:xfrm>
          <a:custGeom>
            <a:avLst/>
            <a:gdLst/>
            <a:ahLst/>
            <a:cxnLst/>
            <a:rect l="l" t="t" r="r" b="b"/>
            <a:pathLst>
              <a:path w="6923700" h="6206153">
                <a:moveTo>
                  <a:pt x="0" y="0"/>
                </a:moveTo>
                <a:lnTo>
                  <a:pt x="6923700" y="0"/>
                </a:lnTo>
                <a:lnTo>
                  <a:pt x="6923700" y="6206153"/>
                </a:lnTo>
                <a:lnTo>
                  <a:pt x="0" y="6206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3613" y="4247433"/>
            <a:ext cx="6923700" cy="6206153"/>
          </a:xfrm>
          <a:custGeom>
            <a:avLst/>
            <a:gdLst/>
            <a:ahLst/>
            <a:cxnLst/>
            <a:rect l="l" t="t" r="r" b="b"/>
            <a:pathLst>
              <a:path w="6923700" h="6206153">
                <a:moveTo>
                  <a:pt x="0" y="0"/>
                </a:moveTo>
                <a:lnTo>
                  <a:pt x="6923700" y="0"/>
                </a:lnTo>
                <a:lnTo>
                  <a:pt x="6923700" y="6206153"/>
                </a:lnTo>
                <a:lnTo>
                  <a:pt x="0" y="6206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26744" y="8633708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2"/>
                </a:lnTo>
                <a:lnTo>
                  <a:pt x="0" y="1653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848600" y="2933103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3"/>
                </a:lnTo>
                <a:lnTo>
                  <a:pt x="0" y="16532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452197" y="4316854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2"/>
                </a:lnTo>
                <a:lnTo>
                  <a:pt x="0" y="1653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89338" y="448164"/>
            <a:ext cx="5376379" cy="5445688"/>
          </a:xfrm>
          <a:custGeom>
            <a:avLst/>
            <a:gdLst/>
            <a:ahLst/>
            <a:cxnLst/>
            <a:rect l="l" t="t" r="r" b="b"/>
            <a:pathLst>
              <a:path w="5376379" h="5445688">
                <a:moveTo>
                  <a:pt x="0" y="0"/>
                </a:moveTo>
                <a:lnTo>
                  <a:pt x="5376379" y="0"/>
                </a:lnTo>
                <a:lnTo>
                  <a:pt x="5376379" y="5445688"/>
                </a:lnTo>
                <a:lnTo>
                  <a:pt x="0" y="54456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92775" y="676479"/>
            <a:ext cx="11857516" cy="1104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45"/>
              </a:lnSpc>
              <a:spcBef>
                <a:spcPct val="0"/>
              </a:spcBef>
            </a:pPr>
            <a:r>
              <a:rPr lang="en-US" sz="5818">
                <a:solidFill>
                  <a:srgbClr val="8C1A44"/>
                </a:solidFill>
                <a:latin typeface="Bungee"/>
                <a:ea typeface="Bungee"/>
                <a:cs typeface="Bungee"/>
                <a:sym typeface="Bungee"/>
              </a:rPr>
              <a:t>thành viên nhóm 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45463" y="3569967"/>
            <a:ext cx="3491359" cy="78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83"/>
              </a:lnSpc>
              <a:spcBef>
                <a:spcPct val="0"/>
              </a:spcBef>
            </a:pPr>
            <a:r>
              <a:rPr lang="en-US" sz="4345" dirty="0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endParaRPr lang="en-US" sz="4345" dirty="0">
              <a:solidFill>
                <a:srgbClr val="A0325B"/>
              </a:solidFill>
              <a:latin typeface="Sigmar One"/>
              <a:ea typeface="Sigmar One"/>
              <a:cs typeface="Sigmar One"/>
              <a:sym typeface="Sigmar One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977529" y="2421885"/>
            <a:ext cx="4627228" cy="3847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 err="1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Đức</a:t>
            </a:r>
            <a:r>
              <a:rPr lang="en-US" sz="4299" dirty="0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r>
              <a:rPr lang="en-US" sz="4299" dirty="0" err="1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tâm</a:t>
            </a:r>
            <a:endParaRPr lang="en-US" sz="4299" dirty="0" smtClean="0">
              <a:solidFill>
                <a:srgbClr val="A0325B"/>
              </a:solidFill>
              <a:latin typeface="Sigmar One"/>
              <a:ea typeface="Sigmar One"/>
              <a:cs typeface="Sigmar One"/>
              <a:sym typeface="Sigmar One"/>
            </a:endParaRPr>
          </a:p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 err="1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Khánh</a:t>
            </a:r>
            <a:r>
              <a:rPr lang="en-US" sz="4299" dirty="0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 Chi</a:t>
            </a:r>
          </a:p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Minh </a:t>
            </a:r>
            <a:r>
              <a:rPr lang="en-US" sz="4299" dirty="0" err="1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Hằng</a:t>
            </a:r>
            <a:endParaRPr lang="en-US" sz="4299" dirty="0" smtClean="0">
              <a:solidFill>
                <a:srgbClr val="A0325B"/>
              </a:solidFill>
              <a:latin typeface="Sigmar One"/>
              <a:ea typeface="Sigmar One"/>
              <a:cs typeface="Sigmar One"/>
              <a:sym typeface="Sigmar One"/>
            </a:endParaRPr>
          </a:p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 err="1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Hà</a:t>
            </a:r>
            <a:r>
              <a:rPr lang="en-US" sz="4299" dirty="0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 Vi</a:t>
            </a:r>
          </a:p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 err="1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Nguyên</a:t>
            </a:r>
            <a:r>
              <a:rPr lang="en-US" sz="4299" dirty="0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 Long </a:t>
            </a:r>
            <a:endParaRPr lang="en-US" sz="4299" dirty="0">
              <a:solidFill>
                <a:srgbClr val="A0325B"/>
              </a:solidFill>
              <a:latin typeface="Sigmar One"/>
              <a:ea typeface="Sigmar One"/>
              <a:cs typeface="Sigmar One"/>
              <a:sym typeface="Sigmar On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031453" y="5970146"/>
            <a:ext cx="3567708" cy="74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endParaRPr lang="en-US" sz="4299" dirty="0">
              <a:solidFill>
                <a:srgbClr val="A0325B"/>
              </a:solidFill>
              <a:latin typeface="Sigmar One"/>
              <a:ea typeface="Sigmar One"/>
              <a:cs typeface="Sigmar One"/>
              <a:sym typeface="Sigmar On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028638" y="7270398"/>
            <a:ext cx="4228505" cy="74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endParaRPr lang="en-US" sz="4299" dirty="0">
              <a:solidFill>
                <a:srgbClr val="A0325B"/>
              </a:solidFill>
              <a:latin typeface="Sigmar One"/>
              <a:ea typeface="Sigmar One"/>
              <a:cs typeface="Sigmar One"/>
              <a:sym typeface="Sigmar On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134935" y="143263"/>
            <a:ext cx="5021570" cy="3847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 err="1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Hữu</a:t>
            </a:r>
            <a:r>
              <a:rPr lang="en-US" sz="4299" dirty="0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r>
              <a:rPr lang="en-US" sz="4299" dirty="0" err="1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Thịnh</a:t>
            </a:r>
            <a:endParaRPr lang="en-US" sz="4299" dirty="0" smtClean="0">
              <a:solidFill>
                <a:srgbClr val="A0325B"/>
              </a:solidFill>
              <a:latin typeface="Sigmar One"/>
              <a:ea typeface="Sigmar One"/>
              <a:cs typeface="Sigmar One"/>
              <a:sym typeface="Sigmar One"/>
            </a:endParaRPr>
          </a:p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 err="1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Mạnh</a:t>
            </a:r>
            <a:r>
              <a:rPr lang="en-US" sz="4299" dirty="0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r>
              <a:rPr lang="en-US" sz="4299" dirty="0" err="1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Dũng</a:t>
            </a:r>
            <a:endParaRPr lang="en-US" sz="4299" dirty="0" smtClean="0">
              <a:solidFill>
                <a:srgbClr val="A0325B"/>
              </a:solidFill>
              <a:latin typeface="Sigmar One"/>
              <a:ea typeface="Sigmar One"/>
              <a:cs typeface="Sigmar One"/>
              <a:sym typeface="Sigmar One"/>
            </a:endParaRPr>
          </a:p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 err="1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Ngọc</a:t>
            </a:r>
            <a:r>
              <a:rPr lang="en-US" sz="4299" dirty="0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r>
              <a:rPr lang="en-US" sz="4299" dirty="0" err="1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diệp</a:t>
            </a:r>
            <a:endParaRPr lang="en-US" sz="4299" dirty="0" smtClean="0">
              <a:solidFill>
                <a:srgbClr val="A0325B"/>
              </a:solidFill>
              <a:latin typeface="Sigmar One"/>
              <a:ea typeface="Sigmar One"/>
              <a:cs typeface="Sigmar One"/>
              <a:sym typeface="Sigmar One"/>
            </a:endParaRPr>
          </a:p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 err="1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Sỹ</a:t>
            </a:r>
            <a:r>
              <a:rPr lang="en-US" sz="4299" dirty="0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r>
              <a:rPr lang="en-US" sz="4299" dirty="0" err="1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Hoàng</a:t>
            </a:r>
            <a:r>
              <a:rPr lang="en-US" sz="4299" dirty="0" smtClean="0">
                <a:solidFill>
                  <a:srgbClr val="000000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</a:p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 err="1" smtClean="0">
                <a:solidFill>
                  <a:srgbClr val="000000"/>
                </a:solidFill>
                <a:latin typeface="Sigmar One"/>
                <a:ea typeface="Sigmar One"/>
                <a:cs typeface="Sigmar One"/>
                <a:sym typeface="Sigmar One"/>
              </a:rPr>
              <a:t>Đức</a:t>
            </a:r>
            <a:r>
              <a:rPr lang="en-US" sz="4299" dirty="0" smtClean="0">
                <a:solidFill>
                  <a:srgbClr val="000000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r>
              <a:rPr lang="en-US" sz="4299" dirty="0" err="1" smtClean="0">
                <a:solidFill>
                  <a:srgbClr val="000000"/>
                </a:solidFill>
                <a:latin typeface="Sigmar One"/>
                <a:ea typeface="Sigmar One"/>
                <a:cs typeface="Sigmar One"/>
                <a:sym typeface="Sigmar One"/>
              </a:rPr>
              <a:t>Cường</a:t>
            </a:r>
            <a:endParaRPr lang="en-US" sz="4299" dirty="0">
              <a:solidFill>
                <a:srgbClr val="000000"/>
              </a:solidFill>
              <a:latin typeface="Sigmar One"/>
              <a:ea typeface="Sigmar One"/>
              <a:cs typeface="Sigmar One"/>
              <a:sym typeface="Sigmar On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781272" y="3619215"/>
            <a:ext cx="4707326" cy="74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endParaRPr lang="en-US" sz="4299" dirty="0">
              <a:solidFill>
                <a:srgbClr val="A0325B"/>
              </a:solidFill>
              <a:latin typeface="Sigmar One"/>
              <a:ea typeface="Sigmar One"/>
              <a:cs typeface="Sigmar One"/>
              <a:sym typeface="Sigmar One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295183" y="5893852"/>
            <a:ext cx="3216473" cy="74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19"/>
              </a:lnSpc>
              <a:spcBef>
                <a:spcPct val="0"/>
              </a:spcBef>
            </a:pPr>
            <a:r>
              <a:rPr lang="en-US" sz="4299" dirty="0" smtClean="0">
                <a:solidFill>
                  <a:srgbClr val="A0325B"/>
                </a:solidFill>
                <a:latin typeface="Sigmar One"/>
                <a:ea typeface="Sigmar One"/>
                <a:cs typeface="Sigmar One"/>
                <a:sym typeface="Sigmar One"/>
              </a:rPr>
              <a:t> </a:t>
            </a:r>
            <a:endParaRPr lang="en-US" sz="4299" dirty="0">
              <a:solidFill>
                <a:srgbClr val="A0325B"/>
              </a:solidFill>
              <a:latin typeface="Sigmar One"/>
              <a:ea typeface="Sigmar One"/>
              <a:cs typeface="Sigmar One"/>
              <a:sym typeface="Sigmar On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1185084"/>
            <a:ext cx="6545941" cy="88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13247860" y="4609038"/>
            <a:ext cx="4276025" cy="4732019"/>
          </a:xfrm>
          <a:custGeom>
            <a:avLst/>
            <a:gdLst/>
            <a:ahLst/>
            <a:cxnLst/>
            <a:rect l="l" t="t" r="r" b="b"/>
            <a:pathLst>
              <a:path w="4276025" h="4732019">
                <a:moveTo>
                  <a:pt x="0" y="0"/>
                </a:moveTo>
                <a:lnTo>
                  <a:pt x="4276025" y="0"/>
                </a:lnTo>
                <a:lnTo>
                  <a:pt x="4276025" y="4732020"/>
                </a:lnTo>
                <a:lnTo>
                  <a:pt x="0" y="4732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38728" y="-396695"/>
            <a:ext cx="8459343" cy="7582647"/>
          </a:xfrm>
          <a:custGeom>
            <a:avLst/>
            <a:gdLst/>
            <a:ahLst/>
            <a:cxnLst/>
            <a:rect l="l" t="t" r="r" b="b"/>
            <a:pathLst>
              <a:path w="8459343" h="7582647">
                <a:moveTo>
                  <a:pt x="0" y="0"/>
                </a:moveTo>
                <a:lnTo>
                  <a:pt x="8459342" y="0"/>
                </a:lnTo>
                <a:lnTo>
                  <a:pt x="8459342" y="7582648"/>
                </a:lnTo>
                <a:lnTo>
                  <a:pt x="0" y="75826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52400" y="4223593"/>
            <a:ext cx="6923700" cy="6206153"/>
          </a:xfrm>
          <a:custGeom>
            <a:avLst/>
            <a:gdLst/>
            <a:ahLst/>
            <a:cxnLst/>
            <a:rect l="l" t="t" r="r" b="b"/>
            <a:pathLst>
              <a:path w="6923700" h="6206153">
                <a:moveTo>
                  <a:pt x="0" y="0"/>
                </a:moveTo>
                <a:lnTo>
                  <a:pt x="6923700" y="0"/>
                </a:lnTo>
                <a:lnTo>
                  <a:pt x="6923700" y="6206153"/>
                </a:lnTo>
                <a:lnTo>
                  <a:pt x="0" y="6206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926744" y="8633708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2"/>
                </a:lnTo>
                <a:lnTo>
                  <a:pt x="0" y="1653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653774" y="-169974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3"/>
                </a:lnTo>
                <a:lnTo>
                  <a:pt x="0" y="16532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070744" y="4302566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2"/>
                </a:lnTo>
                <a:lnTo>
                  <a:pt x="0" y="1653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29812"/>
            <a:ext cx="5376379" cy="5445688"/>
          </a:xfrm>
          <a:custGeom>
            <a:avLst/>
            <a:gdLst/>
            <a:ahLst/>
            <a:cxnLst/>
            <a:rect l="l" t="t" r="r" b="b"/>
            <a:pathLst>
              <a:path w="5376379" h="5445688">
                <a:moveTo>
                  <a:pt x="0" y="0"/>
                </a:moveTo>
                <a:lnTo>
                  <a:pt x="5376379" y="0"/>
                </a:lnTo>
                <a:lnTo>
                  <a:pt x="5376379" y="5445688"/>
                </a:lnTo>
                <a:lnTo>
                  <a:pt x="0" y="54456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139238" y="5034915"/>
            <a:ext cx="9525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1370433" y="269262"/>
            <a:ext cx="6859167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983"/>
              </a:lnSpc>
              <a:spcBef>
                <a:spcPct val="0"/>
              </a:spcBef>
            </a:pPr>
            <a:r>
              <a:rPr lang="en-US" sz="5702" u="none" strike="noStrike" dirty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1</a:t>
            </a:r>
            <a:r>
              <a:rPr lang="en-US" sz="5702" u="none" strike="noStrike" dirty="0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. </a:t>
            </a:r>
            <a:r>
              <a:rPr lang="en-US" sz="5702" u="none" strike="noStrike" dirty="0" err="1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Khái</a:t>
            </a:r>
            <a:r>
              <a:rPr lang="en-US" sz="5702" u="none" strike="noStrike" dirty="0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702" u="none" strike="noStrike" dirty="0" err="1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niệm</a:t>
            </a:r>
            <a:r>
              <a:rPr lang="en-US" sz="5702" u="none" strike="noStrike" dirty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39238" y="4863465"/>
            <a:ext cx="9525" cy="1691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860"/>
              </a:lnSpc>
              <a:spcBef>
                <a:spcPct val="0"/>
              </a:spcBef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9139238" y="5025390"/>
            <a:ext cx="9525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79"/>
              </a:lnSpc>
              <a:spcBef>
                <a:spcPct val="0"/>
              </a:spcBef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2569478" y="1286105"/>
            <a:ext cx="10155922" cy="7797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20"/>
              </a:lnSpc>
              <a:spcBef>
                <a:spcPct val="0"/>
              </a:spcBef>
            </a:pP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Bệnh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động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kinh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là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gì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?</a:t>
            </a:r>
          </a:p>
          <a:p>
            <a:pPr marL="0" lvl="0" indent="0" algn="ctr">
              <a:lnSpc>
                <a:spcPts val="7620"/>
              </a:lnSpc>
              <a:spcBef>
                <a:spcPct val="0"/>
              </a:spcBef>
            </a:pP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Động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kinh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là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một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rối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loạn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hệ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thần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kinh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trung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ương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(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não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bộ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).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Bình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thường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các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tế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bào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thần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kinh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(neuron)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truyền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tin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cho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nhau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bằng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các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xung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nhỏ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.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Khi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bị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động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kinh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các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xung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điện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này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đột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ngột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phóng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ra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một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cách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quá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mức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và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kiểm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soát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gây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ra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các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"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cơn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co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giật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"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hoặc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thay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đổi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về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hành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vi,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cảm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00" u="none" strike="noStrike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giác</a:t>
            </a:r>
            <a:r>
              <a:rPr lang="en-US" sz="3600" u="none" strike="noStrike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68400" y="1790700"/>
            <a:ext cx="3034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3335" y="970107"/>
            <a:ext cx="4183997" cy="3162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38415" y="3394629"/>
            <a:ext cx="4762500" cy="378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7800" y="6618250"/>
            <a:ext cx="3429000" cy="3810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16000" y="5086918"/>
            <a:ext cx="4276025" cy="4732019"/>
          </a:xfrm>
          <a:custGeom>
            <a:avLst/>
            <a:gdLst/>
            <a:ahLst/>
            <a:cxnLst/>
            <a:rect l="l" t="t" r="r" b="b"/>
            <a:pathLst>
              <a:path w="4276025" h="4732019">
                <a:moveTo>
                  <a:pt x="0" y="0"/>
                </a:moveTo>
                <a:lnTo>
                  <a:pt x="4276025" y="0"/>
                </a:lnTo>
                <a:lnTo>
                  <a:pt x="4276025" y="4732020"/>
                </a:lnTo>
                <a:lnTo>
                  <a:pt x="0" y="4732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64300" y="101114"/>
            <a:ext cx="6923700" cy="6206153"/>
          </a:xfrm>
          <a:custGeom>
            <a:avLst/>
            <a:gdLst/>
            <a:ahLst/>
            <a:cxnLst/>
            <a:rect l="l" t="t" r="r" b="b"/>
            <a:pathLst>
              <a:path w="6923700" h="6206153">
                <a:moveTo>
                  <a:pt x="0" y="0"/>
                </a:moveTo>
                <a:lnTo>
                  <a:pt x="6923700" y="0"/>
                </a:lnTo>
                <a:lnTo>
                  <a:pt x="6923700" y="6206153"/>
                </a:lnTo>
                <a:lnTo>
                  <a:pt x="0" y="6206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3878866"/>
            <a:ext cx="6923700" cy="6206153"/>
          </a:xfrm>
          <a:custGeom>
            <a:avLst/>
            <a:gdLst/>
            <a:ahLst/>
            <a:cxnLst/>
            <a:rect l="l" t="t" r="r" b="b"/>
            <a:pathLst>
              <a:path w="6923700" h="6206153">
                <a:moveTo>
                  <a:pt x="0" y="0"/>
                </a:moveTo>
                <a:lnTo>
                  <a:pt x="6923700" y="0"/>
                </a:lnTo>
                <a:lnTo>
                  <a:pt x="6923700" y="6206153"/>
                </a:lnTo>
                <a:lnTo>
                  <a:pt x="0" y="6206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26744" y="8633708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2"/>
                </a:lnTo>
                <a:lnTo>
                  <a:pt x="0" y="1653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653774" y="-169974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3"/>
                </a:lnTo>
                <a:lnTo>
                  <a:pt x="0" y="16532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70744" y="4429683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2"/>
                </a:lnTo>
                <a:lnTo>
                  <a:pt x="0" y="1653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07410" y="117443"/>
            <a:ext cx="5376379" cy="5445688"/>
          </a:xfrm>
          <a:custGeom>
            <a:avLst/>
            <a:gdLst/>
            <a:ahLst/>
            <a:cxnLst/>
            <a:rect l="l" t="t" r="r" b="b"/>
            <a:pathLst>
              <a:path w="5376379" h="5445688">
                <a:moveTo>
                  <a:pt x="0" y="0"/>
                </a:moveTo>
                <a:lnTo>
                  <a:pt x="5376379" y="0"/>
                </a:lnTo>
                <a:lnTo>
                  <a:pt x="5376379" y="5445688"/>
                </a:lnTo>
                <a:lnTo>
                  <a:pt x="0" y="54456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48581" y="237365"/>
            <a:ext cx="7900182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41778" lvl="2" algn="ctr">
              <a:lnSpc>
                <a:spcPts val="7581"/>
              </a:lnSpc>
            </a:pPr>
            <a:r>
              <a:rPr lang="en-US" sz="5415" dirty="0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2. </a:t>
            </a:r>
            <a:r>
              <a:rPr lang="en-US" sz="5415" dirty="0" err="1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Nguyên</a:t>
            </a:r>
            <a:r>
              <a:rPr lang="en-US" sz="5415" dirty="0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415" dirty="0" err="1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Nhân</a:t>
            </a:r>
            <a:r>
              <a:rPr lang="en-US" sz="5415" dirty="0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endParaRPr lang="en-US" sz="5415" dirty="0">
              <a:solidFill>
                <a:srgbClr val="8C1A44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39238" y="4968240"/>
            <a:ext cx="952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99"/>
              </a:lnSpc>
              <a:spcBef>
                <a:spcPct val="0"/>
              </a:spcBef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 rot="191401">
            <a:off x="9102577" y="5256649"/>
            <a:ext cx="28551" cy="61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5"/>
              </a:lnSpc>
              <a:spcBef>
                <a:spcPct val="0"/>
              </a:spcBef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7885246" y="4398923"/>
            <a:ext cx="6218" cy="89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11"/>
              </a:lnSpc>
              <a:spcBef>
                <a:spcPct val="0"/>
              </a:spcBef>
            </a:pP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2895600" y="1638980"/>
            <a:ext cx="8610600" cy="7848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13"/>
              </a:lnSpc>
            </a:pP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Có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rất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nhiều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nguyên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nhân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dẫn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đến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bệnh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động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kinh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tiêu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biểu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như</a:t>
            </a:r>
            <a:r>
              <a:rPr lang="en-US" sz="4000" dirty="0" smtClean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:</a:t>
            </a:r>
            <a:endParaRPr lang="en-US" sz="4000" dirty="0">
              <a:solidFill>
                <a:srgbClr val="8C1A44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algn="ctr">
              <a:lnSpc>
                <a:spcPts val="5113"/>
              </a:lnSpc>
            </a:pP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Di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truyền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: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Có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tiền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sử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gia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đình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mắc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bệnh</a:t>
            </a:r>
            <a:r>
              <a:rPr lang="en-US" sz="4000" dirty="0" smtClean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  <a:endParaRPr lang="en-US" sz="4000" dirty="0">
              <a:solidFill>
                <a:srgbClr val="8C1A44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algn="ctr">
              <a:lnSpc>
                <a:spcPts val="5113"/>
              </a:lnSpc>
            </a:pP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Chấn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thương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não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: Tai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nạn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giao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thông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va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đập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mạnh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vào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đầu</a:t>
            </a:r>
            <a:r>
              <a:rPr lang="en-US" sz="4000" dirty="0" smtClean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  <a:endParaRPr lang="en-US" sz="4000" dirty="0">
              <a:solidFill>
                <a:srgbClr val="8C1A44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algn="ctr">
              <a:lnSpc>
                <a:spcPts val="5113"/>
              </a:lnSpc>
            </a:pP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Bệnh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lý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về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não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: U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não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đột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quỵ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hoặc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viêm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màng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não</a:t>
            </a:r>
            <a:r>
              <a:rPr lang="en-US" sz="4000" dirty="0" smtClean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  <a:endParaRPr lang="en-US" sz="4000" dirty="0">
              <a:solidFill>
                <a:srgbClr val="8C1A44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algn="ctr">
              <a:lnSpc>
                <a:spcPts val="5113"/>
              </a:lnSpc>
            </a:pP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Biến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chứng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khi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sinh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: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Thiếu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oxy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trong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quá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trình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chào</a:t>
            </a:r>
            <a:r>
              <a:rPr lang="en-US" sz="4000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4000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đời</a:t>
            </a:r>
            <a:r>
              <a:rPr lang="en-US" sz="4000" dirty="0" smtClean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  <a:endParaRPr lang="en-US" sz="3652" dirty="0">
              <a:solidFill>
                <a:srgbClr val="8C1A44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0" lvl="0" indent="0" algn="ctr">
              <a:lnSpc>
                <a:spcPts val="5113"/>
              </a:lnSpc>
              <a:spcBef>
                <a:spcPct val="0"/>
              </a:spcBef>
            </a:pPr>
            <a:r>
              <a:rPr lang="en-US" sz="3652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Rối</a:t>
            </a:r>
            <a:r>
              <a:rPr lang="en-US" sz="3652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52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loạn</a:t>
            </a:r>
            <a:r>
              <a:rPr lang="en-US" sz="3652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52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phát</a:t>
            </a:r>
            <a:r>
              <a:rPr lang="en-US" sz="3652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52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triển</a:t>
            </a:r>
            <a:r>
              <a:rPr lang="en-US" sz="3652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: </a:t>
            </a:r>
            <a:r>
              <a:rPr lang="en-US" sz="3652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Chẳng</a:t>
            </a:r>
            <a:r>
              <a:rPr lang="en-US" sz="3652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52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hạn</a:t>
            </a:r>
            <a:r>
              <a:rPr lang="en-US" sz="3652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52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như</a:t>
            </a:r>
            <a:r>
              <a:rPr lang="en-US" sz="3652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52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bệnh</a:t>
            </a:r>
            <a:r>
              <a:rPr lang="en-US" sz="3652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52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tự</a:t>
            </a:r>
            <a:r>
              <a:rPr lang="en-US" sz="3652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652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kỷ</a:t>
            </a:r>
            <a:r>
              <a:rPr lang="en-US" sz="3652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</p:txBody>
      </p:sp>
      <p:pic>
        <p:nvPicPr>
          <p:cNvPr id="2050" name="Picture 2" descr="Y học thường thức: Bệnh động kinh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79870" y="876300"/>
            <a:ext cx="5579093" cy="371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ệnh động kinh: Cách nhận biết, xử trí và những điều nên tránh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8034" y="5043970"/>
            <a:ext cx="5533715" cy="367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78110" y="5528435"/>
            <a:ext cx="4276025" cy="4732019"/>
          </a:xfrm>
          <a:custGeom>
            <a:avLst/>
            <a:gdLst/>
            <a:ahLst/>
            <a:cxnLst/>
            <a:rect l="l" t="t" r="r" b="b"/>
            <a:pathLst>
              <a:path w="4276025" h="4732019">
                <a:moveTo>
                  <a:pt x="0" y="0"/>
                </a:moveTo>
                <a:lnTo>
                  <a:pt x="4276025" y="0"/>
                </a:lnTo>
                <a:lnTo>
                  <a:pt x="4276025" y="4732020"/>
                </a:lnTo>
                <a:lnTo>
                  <a:pt x="0" y="4732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896600" y="484270"/>
            <a:ext cx="6923700" cy="6206153"/>
          </a:xfrm>
          <a:custGeom>
            <a:avLst/>
            <a:gdLst/>
            <a:ahLst/>
            <a:cxnLst/>
            <a:rect l="l" t="t" r="r" b="b"/>
            <a:pathLst>
              <a:path w="6923700" h="6206153">
                <a:moveTo>
                  <a:pt x="0" y="0"/>
                </a:moveTo>
                <a:lnTo>
                  <a:pt x="6923700" y="0"/>
                </a:lnTo>
                <a:lnTo>
                  <a:pt x="6923700" y="6206153"/>
                </a:lnTo>
                <a:lnTo>
                  <a:pt x="0" y="6206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487" y="4054301"/>
            <a:ext cx="6923700" cy="6206153"/>
          </a:xfrm>
          <a:custGeom>
            <a:avLst/>
            <a:gdLst/>
            <a:ahLst/>
            <a:cxnLst/>
            <a:rect l="l" t="t" r="r" b="b"/>
            <a:pathLst>
              <a:path w="6923700" h="6206153">
                <a:moveTo>
                  <a:pt x="0" y="0"/>
                </a:moveTo>
                <a:lnTo>
                  <a:pt x="6923700" y="0"/>
                </a:lnTo>
                <a:lnTo>
                  <a:pt x="6923700" y="6206153"/>
                </a:lnTo>
                <a:lnTo>
                  <a:pt x="0" y="6206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26744" y="8633708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2"/>
                </a:lnTo>
                <a:lnTo>
                  <a:pt x="0" y="1653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653774" y="-169974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3"/>
                </a:lnTo>
                <a:lnTo>
                  <a:pt x="0" y="16532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452197" y="4316854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2"/>
                </a:lnTo>
                <a:lnTo>
                  <a:pt x="0" y="1653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0"/>
            <a:ext cx="5376379" cy="5445688"/>
          </a:xfrm>
          <a:custGeom>
            <a:avLst/>
            <a:gdLst/>
            <a:ahLst/>
            <a:cxnLst/>
            <a:rect l="l" t="t" r="r" b="b"/>
            <a:pathLst>
              <a:path w="5376379" h="5445688">
                <a:moveTo>
                  <a:pt x="0" y="0"/>
                </a:moveTo>
                <a:lnTo>
                  <a:pt x="5376379" y="0"/>
                </a:lnTo>
                <a:lnTo>
                  <a:pt x="5376379" y="5445688"/>
                </a:lnTo>
                <a:lnTo>
                  <a:pt x="0" y="54456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998807" y="1488761"/>
            <a:ext cx="8200336" cy="7822054"/>
          </a:xfrm>
          <a:custGeom>
            <a:avLst/>
            <a:gdLst/>
            <a:ahLst/>
            <a:cxnLst/>
            <a:rect l="l" t="t" r="r" b="b"/>
            <a:pathLst>
              <a:path w="11107067" h="5801524">
                <a:moveTo>
                  <a:pt x="0" y="0"/>
                </a:moveTo>
                <a:lnTo>
                  <a:pt x="11107068" y="0"/>
                </a:lnTo>
                <a:lnTo>
                  <a:pt x="11107068" y="5801524"/>
                </a:lnTo>
                <a:lnTo>
                  <a:pt x="0" y="5801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232" r="-2232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06368" y="438078"/>
            <a:ext cx="6332632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11624" lvl="1" algn="ctr">
              <a:lnSpc>
                <a:spcPts val="7932"/>
              </a:lnSpc>
              <a:spcBef>
                <a:spcPct val="0"/>
              </a:spcBef>
            </a:pPr>
            <a:r>
              <a:rPr lang="en-US" sz="5665" dirty="0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3. </a:t>
            </a:r>
            <a:r>
              <a:rPr lang="en-US" sz="5665" dirty="0" err="1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Biểu</a:t>
            </a:r>
            <a:r>
              <a:rPr lang="en-US" sz="5665" dirty="0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5665" dirty="0" err="1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hiện</a:t>
            </a:r>
            <a:endParaRPr lang="en-US" sz="5665" dirty="0">
              <a:solidFill>
                <a:srgbClr val="8C1A44"/>
              </a:solidFill>
              <a:latin typeface="Baloo"/>
              <a:ea typeface="Baloo"/>
              <a:cs typeface="Baloo"/>
              <a:sym typeface="Balo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06368" y="1241811"/>
            <a:ext cx="9181296" cy="8161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7"/>
              </a:lnSpc>
            </a:pPr>
            <a:endParaRPr dirty="0"/>
          </a:p>
          <a:p>
            <a:pPr algn="ctr">
              <a:lnSpc>
                <a:spcPts val="4297"/>
              </a:lnSpc>
            </a:pP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phải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cơn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động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kinh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nào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cũng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là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co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giật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mạnh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.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Tùy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vào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vùng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não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bị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ảnh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hưởng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mà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có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các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biểu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hiện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:</a:t>
            </a:r>
          </a:p>
          <a:p>
            <a:pPr algn="ctr">
              <a:lnSpc>
                <a:spcPts val="4297"/>
              </a:lnSpc>
            </a:pPr>
            <a:endParaRPr lang="en-US" sz="3069" dirty="0">
              <a:solidFill>
                <a:srgbClr val="8C1A44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algn="ctr">
              <a:lnSpc>
                <a:spcPts val="4297"/>
              </a:lnSpc>
            </a:pP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Cơn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lớn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(Co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cứng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- Co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giật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):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Người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bệnh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ngã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xuống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, co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cứng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cơ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sau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đó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giật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mạnh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tay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chân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có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thể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sùi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bọt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mép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  <a:p>
            <a:pPr algn="ctr">
              <a:lnSpc>
                <a:spcPts val="4297"/>
              </a:lnSpc>
            </a:pPr>
            <a:endParaRPr lang="en-US" sz="3069" dirty="0">
              <a:solidFill>
                <a:srgbClr val="8C1A44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algn="ctr">
              <a:lnSpc>
                <a:spcPts val="4297"/>
              </a:lnSpc>
            </a:pP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Cơn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vắng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ý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thức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: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Người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bệnh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bỗng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nhiên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đứng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khựng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lại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nhìn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trân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trân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vào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khoảng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trong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vài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giây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rồi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tỉnh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lại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như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chưa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có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chuyện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gì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xảy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ra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(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thường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gặp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ở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trẻ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em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).</a:t>
            </a:r>
          </a:p>
          <a:p>
            <a:pPr algn="ctr">
              <a:lnSpc>
                <a:spcPts val="4297"/>
              </a:lnSpc>
            </a:pPr>
            <a:endParaRPr lang="en-US" sz="3069" dirty="0">
              <a:solidFill>
                <a:srgbClr val="8C1A44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0" lvl="0" indent="0" algn="ctr">
              <a:lnSpc>
                <a:spcPts val="4297"/>
              </a:lnSpc>
              <a:spcBef>
                <a:spcPct val="0"/>
              </a:spcBef>
            </a:pP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Cơn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cục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bộ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: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Chỉ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co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giật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một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vùng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cơ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thể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(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như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tay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mặt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)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hoặc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có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cảm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giác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lạ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về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mùi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vị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âm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069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thanh</a:t>
            </a:r>
            <a:r>
              <a:rPr lang="en-US" sz="3069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54000" y="5554981"/>
            <a:ext cx="4276025" cy="4732019"/>
          </a:xfrm>
          <a:custGeom>
            <a:avLst/>
            <a:gdLst/>
            <a:ahLst/>
            <a:cxnLst/>
            <a:rect l="l" t="t" r="r" b="b"/>
            <a:pathLst>
              <a:path w="4276025" h="4732019">
                <a:moveTo>
                  <a:pt x="0" y="0"/>
                </a:moveTo>
                <a:lnTo>
                  <a:pt x="4276025" y="0"/>
                </a:lnTo>
                <a:lnTo>
                  <a:pt x="4276025" y="4732020"/>
                </a:lnTo>
                <a:lnTo>
                  <a:pt x="0" y="4732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02254" y="-342900"/>
            <a:ext cx="6923700" cy="6206153"/>
          </a:xfrm>
          <a:custGeom>
            <a:avLst/>
            <a:gdLst/>
            <a:ahLst/>
            <a:cxnLst/>
            <a:rect l="l" t="t" r="r" b="b"/>
            <a:pathLst>
              <a:path w="6923700" h="6206153">
                <a:moveTo>
                  <a:pt x="0" y="0"/>
                </a:moveTo>
                <a:lnTo>
                  <a:pt x="6923700" y="0"/>
                </a:lnTo>
                <a:lnTo>
                  <a:pt x="6923700" y="6206153"/>
                </a:lnTo>
                <a:lnTo>
                  <a:pt x="0" y="6206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36071" y="3512435"/>
            <a:ext cx="6923700" cy="6206153"/>
          </a:xfrm>
          <a:custGeom>
            <a:avLst/>
            <a:gdLst/>
            <a:ahLst/>
            <a:cxnLst/>
            <a:rect l="l" t="t" r="r" b="b"/>
            <a:pathLst>
              <a:path w="6923700" h="6206153">
                <a:moveTo>
                  <a:pt x="0" y="0"/>
                </a:moveTo>
                <a:lnTo>
                  <a:pt x="6923700" y="0"/>
                </a:lnTo>
                <a:lnTo>
                  <a:pt x="6923700" y="6206153"/>
                </a:lnTo>
                <a:lnTo>
                  <a:pt x="0" y="6206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26744" y="8633708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2"/>
                </a:lnTo>
                <a:lnTo>
                  <a:pt x="0" y="1653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653774" y="-169974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3"/>
                </a:lnTo>
                <a:lnTo>
                  <a:pt x="0" y="16532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452197" y="4316854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2"/>
                </a:lnTo>
                <a:lnTo>
                  <a:pt x="0" y="1653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400" y="103850"/>
            <a:ext cx="5376379" cy="5445688"/>
          </a:xfrm>
          <a:custGeom>
            <a:avLst/>
            <a:gdLst/>
            <a:ahLst/>
            <a:cxnLst/>
            <a:rect l="l" t="t" r="r" b="b"/>
            <a:pathLst>
              <a:path w="5376379" h="5445688">
                <a:moveTo>
                  <a:pt x="0" y="0"/>
                </a:moveTo>
                <a:lnTo>
                  <a:pt x="5376379" y="0"/>
                </a:lnTo>
                <a:lnTo>
                  <a:pt x="5376379" y="5445688"/>
                </a:lnTo>
                <a:lnTo>
                  <a:pt x="0" y="54456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743455" y="601069"/>
            <a:ext cx="8544545" cy="9084862"/>
          </a:xfrm>
          <a:custGeom>
            <a:avLst/>
            <a:gdLst/>
            <a:ahLst/>
            <a:cxnLst/>
            <a:rect l="l" t="t" r="r" b="b"/>
            <a:pathLst>
              <a:path w="8544545" h="9084862">
                <a:moveTo>
                  <a:pt x="0" y="0"/>
                </a:moveTo>
                <a:lnTo>
                  <a:pt x="8544546" y="0"/>
                </a:lnTo>
                <a:lnTo>
                  <a:pt x="8544546" y="9084862"/>
                </a:lnTo>
                <a:lnTo>
                  <a:pt x="0" y="90848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77243" y="254970"/>
            <a:ext cx="9625011" cy="9113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2"/>
              </a:lnSpc>
            </a:pPr>
            <a:endParaRPr dirty="0"/>
          </a:p>
          <a:p>
            <a:pPr algn="ctr">
              <a:lnSpc>
                <a:spcPts val="4832"/>
              </a:lnSpc>
            </a:pPr>
            <a:endParaRPr dirty="0"/>
          </a:p>
          <a:p>
            <a:pPr algn="ctr">
              <a:lnSpc>
                <a:spcPts val="4832"/>
              </a:lnSpc>
            </a:pP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Những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việc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NÊN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làm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:</a:t>
            </a:r>
          </a:p>
          <a:p>
            <a:pPr algn="ctr">
              <a:lnSpc>
                <a:spcPts val="4832"/>
              </a:lnSpc>
            </a:pP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Chống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ngã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: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Đỡ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nhẹ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nhàng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để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người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bệnh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bị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ngã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chấn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thương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  <a:p>
            <a:pPr algn="ctr">
              <a:lnSpc>
                <a:spcPts val="4832"/>
              </a:lnSpc>
            </a:pPr>
            <a:endParaRPr lang="en-US" sz="3451" dirty="0">
              <a:solidFill>
                <a:srgbClr val="8C1A44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algn="ctr">
              <a:lnSpc>
                <a:spcPts val="4832"/>
              </a:lnSpc>
            </a:pP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Kê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đầu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: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Đặt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vật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mềm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(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áo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gối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)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dưới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đầu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họ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  <a:p>
            <a:pPr algn="ctr">
              <a:lnSpc>
                <a:spcPts val="4832"/>
              </a:lnSpc>
            </a:pPr>
            <a:endParaRPr lang="en-US" sz="3451" dirty="0">
              <a:solidFill>
                <a:srgbClr val="8C1A44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algn="ctr">
              <a:lnSpc>
                <a:spcPts val="4832"/>
              </a:lnSpc>
            </a:pP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Nằm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nghiêng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: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Khi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cơn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co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giật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giảm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hãy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lật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nhẹ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người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bệnh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nằm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nghiêng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để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đờm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dãi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chảy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ra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ngoài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,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giúp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họ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dễ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thở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và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không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bị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sặc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  <a:p>
            <a:pPr algn="ctr">
              <a:lnSpc>
                <a:spcPts val="4832"/>
              </a:lnSpc>
            </a:pPr>
            <a:endParaRPr lang="en-US" sz="3451" dirty="0">
              <a:solidFill>
                <a:srgbClr val="8C1A44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algn="ctr">
              <a:lnSpc>
                <a:spcPts val="4832"/>
              </a:lnSpc>
            </a:pP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Nới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lỏng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quần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áo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: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Đặc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biệt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là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vùng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cổ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  <a:p>
            <a:pPr algn="ctr">
              <a:lnSpc>
                <a:spcPts val="4832"/>
              </a:lnSpc>
            </a:pPr>
            <a:endParaRPr lang="en-US" sz="3451" dirty="0">
              <a:solidFill>
                <a:srgbClr val="8C1A44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marL="0" lvl="0" indent="0" algn="ctr">
              <a:lnSpc>
                <a:spcPts val="4832"/>
              </a:lnSpc>
              <a:spcBef>
                <a:spcPct val="0"/>
              </a:spcBef>
            </a:pP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Ở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lại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bên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cạnh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: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Chờ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cho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đến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khi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họ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tỉnh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 </a:t>
            </a:r>
            <a:r>
              <a:rPr lang="en-US" sz="3451" dirty="0" err="1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hẳn</a:t>
            </a:r>
            <a:r>
              <a:rPr lang="en-US" sz="3451" dirty="0">
                <a:solidFill>
                  <a:srgbClr val="8C1A44"/>
                </a:solidFill>
                <a:latin typeface="Agbalumo"/>
                <a:ea typeface="Agbalumo"/>
                <a:cs typeface="Agbalumo"/>
                <a:sym typeface="Agbalumo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7242" y="339049"/>
            <a:ext cx="8495357" cy="12054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23264" lvl="1" algn="ctr">
              <a:lnSpc>
                <a:spcPts val="9379"/>
              </a:lnSpc>
              <a:spcBef>
                <a:spcPct val="0"/>
              </a:spcBef>
            </a:pPr>
            <a:r>
              <a:rPr lang="en-US" sz="6699" dirty="0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4. </a:t>
            </a:r>
            <a:r>
              <a:rPr lang="en-US" sz="6699" dirty="0" err="1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Cách</a:t>
            </a:r>
            <a:r>
              <a:rPr lang="en-US" sz="6699" dirty="0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99" dirty="0" err="1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sơ</a:t>
            </a:r>
            <a:r>
              <a:rPr lang="en-US" sz="6699" dirty="0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r>
              <a:rPr lang="en-US" sz="6699" dirty="0" err="1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cứu</a:t>
            </a:r>
            <a:r>
              <a:rPr lang="en-US" sz="6699" dirty="0" smtClean="0">
                <a:solidFill>
                  <a:srgbClr val="8C1A44"/>
                </a:solidFill>
                <a:latin typeface="Baloo"/>
                <a:ea typeface="Baloo"/>
                <a:cs typeface="Baloo"/>
                <a:sym typeface="Baloo"/>
              </a:rPr>
              <a:t> </a:t>
            </a:r>
            <a:endParaRPr lang="en-US" sz="6699" dirty="0">
              <a:solidFill>
                <a:srgbClr val="8C1A44"/>
              </a:solidFill>
              <a:latin typeface="Baloo"/>
              <a:ea typeface="Baloo"/>
              <a:cs typeface="Baloo"/>
              <a:sym typeface="Balo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06532" y="5295900"/>
            <a:ext cx="4276025" cy="4732019"/>
          </a:xfrm>
          <a:custGeom>
            <a:avLst/>
            <a:gdLst/>
            <a:ahLst/>
            <a:cxnLst/>
            <a:rect l="l" t="t" r="r" b="b"/>
            <a:pathLst>
              <a:path w="4276025" h="4732019">
                <a:moveTo>
                  <a:pt x="0" y="0"/>
                </a:moveTo>
                <a:lnTo>
                  <a:pt x="4276025" y="0"/>
                </a:lnTo>
                <a:lnTo>
                  <a:pt x="4276025" y="4732020"/>
                </a:lnTo>
                <a:lnTo>
                  <a:pt x="0" y="4732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429614" y="-66097"/>
            <a:ext cx="6923700" cy="6206153"/>
          </a:xfrm>
          <a:custGeom>
            <a:avLst/>
            <a:gdLst/>
            <a:ahLst/>
            <a:cxnLst/>
            <a:rect l="l" t="t" r="r" b="b"/>
            <a:pathLst>
              <a:path w="6923700" h="6206153">
                <a:moveTo>
                  <a:pt x="0" y="0"/>
                </a:moveTo>
                <a:lnTo>
                  <a:pt x="6923700" y="0"/>
                </a:lnTo>
                <a:lnTo>
                  <a:pt x="6923700" y="6206153"/>
                </a:lnTo>
                <a:lnTo>
                  <a:pt x="0" y="6206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28600" y="4213905"/>
            <a:ext cx="6923700" cy="6206153"/>
          </a:xfrm>
          <a:custGeom>
            <a:avLst/>
            <a:gdLst/>
            <a:ahLst/>
            <a:cxnLst/>
            <a:rect l="l" t="t" r="r" b="b"/>
            <a:pathLst>
              <a:path w="6923700" h="6206153">
                <a:moveTo>
                  <a:pt x="0" y="0"/>
                </a:moveTo>
                <a:lnTo>
                  <a:pt x="6923700" y="0"/>
                </a:lnTo>
                <a:lnTo>
                  <a:pt x="6923700" y="6206153"/>
                </a:lnTo>
                <a:lnTo>
                  <a:pt x="0" y="6206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926744" y="8633708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2"/>
                </a:lnTo>
                <a:lnTo>
                  <a:pt x="0" y="1653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653774" y="-169974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3"/>
                </a:lnTo>
                <a:lnTo>
                  <a:pt x="0" y="16532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452197" y="4316854"/>
            <a:ext cx="2217256" cy="1653292"/>
          </a:xfrm>
          <a:custGeom>
            <a:avLst/>
            <a:gdLst/>
            <a:ahLst/>
            <a:cxnLst/>
            <a:rect l="l" t="t" r="r" b="b"/>
            <a:pathLst>
              <a:path w="2217256" h="1653292">
                <a:moveTo>
                  <a:pt x="0" y="0"/>
                </a:moveTo>
                <a:lnTo>
                  <a:pt x="2217256" y="0"/>
                </a:lnTo>
                <a:lnTo>
                  <a:pt x="2217256" y="1653292"/>
                </a:lnTo>
                <a:lnTo>
                  <a:pt x="0" y="16532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658993" y="524458"/>
            <a:ext cx="5376379" cy="5445688"/>
          </a:xfrm>
          <a:custGeom>
            <a:avLst/>
            <a:gdLst/>
            <a:ahLst/>
            <a:cxnLst/>
            <a:rect l="l" t="t" r="r" b="b"/>
            <a:pathLst>
              <a:path w="5376379" h="5445688">
                <a:moveTo>
                  <a:pt x="0" y="0"/>
                </a:moveTo>
                <a:lnTo>
                  <a:pt x="5376379" y="0"/>
                </a:lnTo>
                <a:lnTo>
                  <a:pt x="5376379" y="5445688"/>
                </a:lnTo>
                <a:lnTo>
                  <a:pt x="0" y="54456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/>
          <p:cNvSpPr txBox="1"/>
          <p:nvPr/>
        </p:nvSpPr>
        <p:spPr>
          <a:xfrm>
            <a:off x="5715000" y="278130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9303" y="3702619"/>
            <a:ext cx="14223801" cy="2344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 dirty="0">
                <a:solidFill>
                  <a:srgbClr val="8C1A44"/>
                </a:solidFill>
                <a:latin typeface="Coiny"/>
                <a:ea typeface="Coiny"/>
                <a:cs typeface="Coiny"/>
                <a:sym typeface="Coiny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-195370" y="5784325"/>
            <a:ext cx="5686281" cy="4114800"/>
          </a:xfrm>
          <a:custGeom>
            <a:avLst/>
            <a:gdLst/>
            <a:ahLst/>
            <a:cxnLst/>
            <a:rect l="l" t="t" r="r" b="b"/>
            <a:pathLst>
              <a:path w="5686281" h="4114800">
                <a:moveTo>
                  <a:pt x="0" y="0"/>
                </a:moveTo>
                <a:lnTo>
                  <a:pt x="5686281" y="0"/>
                </a:lnTo>
                <a:lnTo>
                  <a:pt x="56862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5821058" cy="4184082"/>
          </a:xfrm>
          <a:custGeom>
            <a:avLst/>
            <a:gdLst/>
            <a:ahLst/>
            <a:cxnLst/>
            <a:rect l="l" t="t" r="r" b="b"/>
            <a:pathLst>
              <a:path w="5955836" h="5165334">
                <a:moveTo>
                  <a:pt x="0" y="0"/>
                </a:moveTo>
                <a:lnTo>
                  <a:pt x="5955836" y="0"/>
                </a:lnTo>
                <a:lnTo>
                  <a:pt x="5955836" y="5165334"/>
                </a:lnTo>
                <a:lnTo>
                  <a:pt x="0" y="51653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030200" y="5773439"/>
            <a:ext cx="4720541" cy="3600450"/>
          </a:xfrm>
          <a:custGeom>
            <a:avLst/>
            <a:gdLst/>
            <a:ahLst/>
            <a:cxnLst/>
            <a:rect l="l" t="t" r="r" b="b"/>
            <a:pathLst>
              <a:path w="8001000" h="7200900">
                <a:moveTo>
                  <a:pt x="0" y="0"/>
                </a:moveTo>
                <a:lnTo>
                  <a:pt x="8001000" y="0"/>
                </a:lnTo>
                <a:lnTo>
                  <a:pt x="8001000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284857" y="0"/>
            <a:ext cx="3718283" cy="4114800"/>
          </a:xfrm>
          <a:custGeom>
            <a:avLst/>
            <a:gdLst/>
            <a:ahLst/>
            <a:cxnLst/>
            <a:rect l="l" t="t" r="r" b="b"/>
            <a:pathLst>
              <a:path w="3718283" h="4114800">
                <a:moveTo>
                  <a:pt x="0" y="0"/>
                </a:moveTo>
                <a:lnTo>
                  <a:pt x="3718283" y="0"/>
                </a:lnTo>
                <a:lnTo>
                  <a:pt x="3718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3999"/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801176" y="6591300"/>
            <a:ext cx="3718283" cy="4114800"/>
          </a:xfrm>
          <a:custGeom>
            <a:avLst/>
            <a:gdLst/>
            <a:ahLst/>
            <a:cxnLst/>
            <a:rect l="l" t="t" r="r" b="b"/>
            <a:pathLst>
              <a:path w="3718283" h="4114800">
                <a:moveTo>
                  <a:pt x="0" y="0"/>
                </a:moveTo>
                <a:lnTo>
                  <a:pt x="3718283" y="0"/>
                </a:lnTo>
                <a:lnTo>
                  <a:pt x="3718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43999"/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182600" y="31182"/>
            <a:ext cx="5105400" cy="5410200"/>
          </a:xfrm>
          <a:custGeom>
            <a:avLst/>
            <a:gdLst/>
            <a:ahLst/>
            <a:cxnLst/>
            <a:rect l="l" t="t" r="r" b="b"/>
            <a:pathLst>
              <a:path w="6062472" h="8229600">
                <a:moveTo>
                  <a:pt x="0" y="0"/>
                </a:moveTo>
                <a:lnTo>
                  <a:pt x="6062472" y="0"/>
                </a:lnTo>
                <a:lnTo>
                  <a:pt x="606247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966910" y="6153150"/>
            <a:ext cx="8354179" cy="3036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46"/>
              </a:lnSpc>
            </a:pPr>
            <a:r>
              <a:rPr lang="en-US" sz="17744" dirty="0">
                <a:solidFill>
                  <a:srgbClr val="8C1A44"/>
                </a:solidFill>
                <a:latin typeface="Moontime"/>
                <a:ea typeface="Moontime"/>
                <a:cs typeface="Moontime"/>
                <a:sym typeface="Moontime"/>
              </a:rPr>
              <a:t>for watching</a:t>
            </a:r>
          </a:p>
          <a:p>
            <a:pPr algn="ctr">
              <a:lnSpc>
                <a:spcPts val="10646"/>
              </a:lnSpc>
            </a:pPr>
            <a:endParaRPr lang="en-US" sz="17744" dirty="0">
              <a:solidFill>
                <a:srgbClr val="8C1A44"/>
              </a:solidFill>
              <a:latin typeface="Moontime"/>
              <a:ea typeface="Moontime"/>
              <a:cs typeface="Moontime"/>
              <a:sym typeface="Moontim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446</Words>
  <Application>Microsoft Office PowerPoint</Application>
  <PresentationFormat>Custom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Agbalumo</vt:lpstr>
      <vt:lpstr>Moontime</vt:lpstr>
      <vt:lpstr>Bungee</vt:lpstr>
      <vt:lpstr>Coiny</vt:lpstr>
      <vt:lpstr>Calibri</vt:lpstr>
      <vt:lpstr>Atma Bold</vt:lpstr>
      <vt:lpstr>Baloo</vt:lpstr>
      <vt:lpstr>Sigmar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Thêm tiêu đề</dc:title>
  <dc:creator>KHANH CHI</dc:creator>
  <cp:lastModifiedBy>KHANH CHI</cp:lastModifiedBy>
  <cp:revision>7</cp:revision>
  <dcterms:created xsi:type="dcterms:W3CDTF">2006-08-16T00:00:00Z</dcterms:created>
  <dcterms:modified xsi:type="dcterms:W3CDTF">2026-01-26T04:50:06Z</dcterms:modified>
  <dc:identifier>DAG_bs5ahUs</dc:identifier>
</cp:coreProperties>
</file>